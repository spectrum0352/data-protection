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8" r:id="rId4"/>
    <p:sldId id="259" r:id="rId5"/>
    <p:sldId id="269" r:id="rId6"/>
    <p:sldId id="270" r:id="rId7"/>
    <p:sldId id="260" r:id="rId8"/>
    <p:sldId id="257" r:id="rId9"/>
    <p:sldId id="261" r:id="rId10"/>
    <p:sldId id="262" r:id="rId11"/>
    <p:sldId id="268" r:id="rId12"/>
    <p:sldId id="263" r:id="rId13"/>
    <p:sldId id="264" r:id="rId14"/>
    <p:sldId id="265" r:id="rId15"/>
    <p:sldId id="266"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0AA1E3-AF38-48F4-A3BE-BC3204777141}">
          <p14:sldIdLst>
            <p14:sldId id="256"/>
            <p14:sldId id="267"/>
            <p14:sldId id="258"/>
            <p14:sldId id="259"/>
            <p14:sldId id="269"/>
            <p14:sldId id="270"/>
            <p14:sldId id="260"/>
            <p14:sldId id="257"/>
            <p14:sldId id="261"/>
            <p14:sldId id="262"/>
            <p14:sldId id="268"/>
            <p14:sldId id="263"/>
            <p14:sldId id="264"/>
            <p14:sldId id="265"/>
            <p14:sldId id="266"/>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Threats to Email" id="{107C51D3-EBE2-4FCE-B015-68F0ED38E8BC}">
          <p14:sldIdLst>
            <p14:sldId id="288"/>
            <p14:sldId id="289"/>
            <p14:sldId id="290"/>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10" autoAdjust="0"/>
    <p:restoredTop sz="94660"/>
  </p:normalViewPr>
  <p:slideViewPr>
    <p:cSldViewPr snapToGrid="0">
      <p:cViewPr varScale="1">
        <p:scale>
          <a:sx n="62" d="100"/>
          <a:sy n="62" d="100"/>
        </p:scale>
        <p:origin x="4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3881-69EF-FA23-96B1-1A7CB276A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D4442A-9DF5-1B48-C47D-7391A89388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BE83B8-BC26-DF54-8DAA-C32168110610}"/>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5" name="Footer Placeholder 4">
            <a:extLst>
              <a:ext uri="{FF2B5EF4-FFF2-40B4-BE49-F238E27FC236}">
                <a16:creationId xmlns:a16="http://schemas.microsoft.com/office/drawing/2014/main" id="{046A01CD-8826-D006-98B1-7AA8C844E5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ED6559-6895-9707-AA46-2ACDD1F694FC}"/>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2315935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7DCA6-DD19-5B03-5DDA-C8E1D4DBE3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F12C45-347B-47A7-18B9-E7437F972B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393F96-6CC5-76CC-39BA-B42E114C5B6E}"/>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5" name="Footer Placeholder 4">
            <a:extLst>
              <a:ext uri="{FF2B5EF4-FFF2-40B4-BE49-F238E27FC236}">
                <a16:creationId xmlns:a16="http://schemas.microsoft.com/office/drawing/2014/main" id="{4E0980EE-A198-E179-7668-89DE073D15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CEF299-58E2-6534-AB54-DDFC9E365816}"/>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3748708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1C60-DABA-6DB3-1688-E4609BD5FD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A14FDF-8D0A-E41A-1099-F25A7F84BD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855038-0120-FB0E-8DE1-C906EA26EEFC}"/>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5" name="Footer Placeholder 4">
            <a:extLst>
              <a:ext uri="{FF2B5EF4-FFF2-40B4-BE49-F238E27FC236}">
                <a16:creationId xmlns:a16="http://schemas.microsoft.com/office/drawing/2014/main" id="{1D19F55F-A39C-D6AE-39F1-2662B5B702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B3BD9-DEFC-9A3E-D038-62E3A29B4037}"/>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2065616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7876-F324-D891-FD1E-C0D12DA641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2594B5-5B9F-7BBE-2EF4-FD5C79AD29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A5A6E3-2EB9-037F-33B2-F9FD69B33B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32105A0-D154-6C15-FB9B-182451E481FC}"/>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6" name="Footer Placeholder 5">
            <a:extLst>
              <a:ext uri="{FF2B5EF4-FFF2-40B4-BE49-F238E27FC236}">
                <a16:creationId xmlns:a16="http://schemas.microsoft.com/office/drawing/2014/main" id="{D4A74BCE-AF21-FAA6-B01B-D445C00274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5170B3-A063-04B7-DEB6-27BC2E0E45F1}"/>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148866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E368-A0E3-954C-45BD-AA392A5D56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8D0F8D-CBA4-9488-B2DD-78C38F2B49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8C84CE-C873-6DAB-952A-032FD63E79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F2784A-E445-11DA-A893-159D8E302F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101C75-4488-71EB-56B1-64ED93D1F6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C0654D-3682-749E-5735-02CF8F5D89D3}"/>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8" name="Footer Placeholder 7">
            <a:extLst>
              <a:ext uri="{FF2B5EF4-FFF2-40B4-BE49-F238E27FC236}">
                <a16:creationId xmlns:a16="http://schemas.microsoft.com/office/drawing/2014/main" id="{972696A6-B683-F7CA-5FE4-1D750125FA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5EA8F6-0937-65B6-C2D2-4DE58D78F39C}"/>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3901818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82FFA-5F9E-C671-CA5E-321E5E95A1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480D61-F64A-2533-8B75-FADD681CE6C0}"/>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4" name="Footer Placeholder 3">
            <a:extLst>
              <a:ext uri="{FF2B5EF4-FFF2-40B4-BE49-F238E27FC236}">
                <a16:creationId xmlns:a16="http://schemas.microsoft.com/office/drawing/2014/main" id="{8276E594-C834-C2EB-B643-862FAB78AC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0CDA62-291C-2BFF-9A16-EF36002F6060}"/>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1642063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B994AD-AF72-6F20-DA56-03A952B9FF7F}"/>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3" name="Footer Placeholder 2">
            <a:extLst>
              <a:ext uri="{FF2B5EF4-FFF2-40B4-BE49-F238E27FC236}">
                <a16:creationId xmlns:a16="http://schemas.microsoft.com/office/drawing/2014/main" id="{5F583E4D-ECD2-5F0D-243C-7E1E7F274F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7DE3AE7-9C44-79D7-9BAA-9E0881732646}"/>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3173161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8B72-4EEC-B9AE-3968-7D83709305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69B4AF-1389-E461-A9AB-488627ADBF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727B56-7EE7-B2F9-4A5F-6DE356EDB0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965BB5-70A1-1899-EFEE-FD2B5791DAA5}"/>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6" name="Footer Placeholder 5">
            <a:extLst>
              <a:ext uri="{FF2B5EF4-FFF2-40B4-BE49-F238E27FC236}">
                <a16:creationId xmlns:a16="http://schemas.microsoft.com/office/drawing/2014/main" id="{812C5130-5751-95EB-D3C8-65755CA264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534FAB-C012-B318-A848-0C635F22930E}"/>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3847266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51B3-E026-7E01-C744-59D48CDD6D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558EEF-4039-59EC-3018-FEF5DD3D53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B56243C-BFE4-C674-BBD8-3AAC7E25DD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0BA64F-4E56-497D-C156-0E95883F643E}"/>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6" name="Footer Placeholder 5">
            <a:extLst>
              <a:ext uri="{FF2B5EF4-FFF2-40B4-BE49-F238E27FC236}">
                <a16:creationId xmlns:a16="http://schemas.microsoft.com/office/drawing/2014/main" id="{A50E8FA8-313A-E973-98EF-AB40070534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7D5B2F-7937-E6D0-B6D7-F734F0A3BF87}"/>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191521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5D971-92F1-6620-948A-4A1D146C30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4F47E4-CA9F-D04B-8E28-0D98635044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7F69B1-1E75-C186-304F-591AD8E1BB87}"/>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5" name="Footer Placeholder 4">
            <a:extLst>
              <a:ext uri="{FF2B5EF4-FFF2-40B4-BE49-F238E27FC236}">
                <a16:creationId xmlns:a16="http://schemas.microsoft.com/office/drawing/2014/main" id="{349CA62C-E38B-14B1-318D-19622190A1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6CB785-D866-88E1-33D5-C37A0C141978}"/>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4258711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F38CD8-C0F3-EF20-E6E5-7DF845628F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F5FE9B-0A68-DF51-B818-E0D6A7E5C7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E6A764-69A2-5ACE-4E21-F1E5DCEA413B}"/>
              </a:ext>
            </a:extLst>
          </p:cNvPr>
          <p:cNvSpPr>
            <a:spLocks noGrp="1"/>
          </p:cNvSpPr>
          <p:nvPr>
            <p:ph type="dt" sz="half" idx="10"/>
          </p:nvPr>
        </p:nvSpPr>
        <p:spPr/>
        <p:txBody>
          <a:bodyPr/>
          <a:lstStyle/>
          <a:p>
            <a:fld id="{CB83E248-FC52-4439-BF13-2ECD9B9C1AFF}" type="datetimeFigureOut">
              <a:rPr lang="en-IN" smtClean="0"/>
              <a:t>12-01-2026</a:t>
            </a:fld>
            <a:endParaRPr lang="en-IN"/>
          </a:p>
        </p:txBody>
      </p:sp>
      <p:sp>
        <p:nvSpPr>
          <p:cNvPr id="5" name="Footer Placeholder 4">
            <a:extLst>
              <a:ext uri="{FF2B5EF4-FFF2-40B4-BE49-F238E27FC236}">
                <a16:creationId xmlns:a16="http://schemas.microsoft.com/office/drawing/2014/main" id="{ADB02C83-03E9-EC53-38AD-D68355C34C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6318BD-A6B8-3A3B-AADD-6461B57D7F00}"/>
              </a:ext>
            </a:extLst>
          </p:cNvPr>
          <p:cNvSpPr>
            <a:spLocks noGrp="1"/>
          </p:cNvSpPr>
          <p:nvPr>
            <p:ph type="sldNum" sz="quarter" idx="12"/>
          </p:nvPr>
        </p:nvSpPr>
        <p:spPr/>
        <p:txBody>
          <a:bodyPr/>
          <a:lstStyle/>
          <a:p>
            <a:fld id="{52ECE8BC-F4C1-48AF-A02A-4E2ABC8009B9}" type="slidenum">
              <a:rPr lang="en-IN" smtClean="0"/>
              <a:t>‹#›</a:t>
            </a:fld>
            <a:endParaRPr lang="en-IN"/>
          </a:p>
        </p:txBody>
      </p:sp>
    </p:spTree>
    <p:extLst>
      <p:ext uri="{BB962C8B-B14F-4D97-AF65-F5344CB8AC3E}">
        <p14:creationId xmlns:p14="http://schemas.microsoft.com/office/powerpoint/2010/main" val="423597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B3C94-FAAB-6E08-DF4D-7DBD3D2512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FB8D42-4135-7654-F8CB-24D89EF97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D6118D-D6ED-1DBC-57FF-6E9FC8E0CF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83E248-FC52-4439-BF13-2ECD9B9C1AFF}" type="datetimeFigureOut">
              <a:rPr lang="en-IN" smtClean="0"/>
              <a:t>12-01-2026</a:t>
            </a:fld>
            <a:endParaRPr lang="en-IN"/>
          </a:p>
        </p:txBody>
      </p:sp>
      <p:sp>
        <p:nvSpPr>
          <p:cNvPr id="5" name="Footer Placeholder 4">
            <a:extLst>
              <a:ext uri="{FF2B5EF4-FFF2-40B4-BE49-F238E27FC236}">
                <a16:creationId xmlns:a16="http://schemas.microsoft.com/office/drawing/2014/main" id="{6FE44E22-4091-BCF0-F509-0143835EB7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C5EE9EE-C4A4-9F18-5061-E1371219B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ECE8BC-F4C1-48AF-A02A-4E2ABC8009B9}" type="slidenum">
              <a:rPr lang="en-IN" smtClean="0"/>
              <a:t>‹#›</a:t>
            </a:fld>
            <a:endParaRPr lang="en-IN"/>
          </a:p>
        </p:txBody>
      </p:sp>
    </p:spTree>
    <p:extLst>
      <p:ext uri="{BB962C8B-B14F-4D97-AF65-F5344CB8AC3E}">
        <p14:creationId xmlns:p14="http://schemas.microsoft.com/office/powerpoint/2010/main" val="1692752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72B4-D44F-9041-EB5D-C0A1DD217857}"/>
              </a:ext>
            </a:extLst>
          </p:cNvPr>
          <p:cNvSpPr>
            <a:spLocks noGrp="1"/>
          </p:cNvSpPr>
          <p:nvPr>
            <p:ph type="ctrTitle"/>
          </p:nvPr>
        </p:nvSpPr>
        <p:spPr/>
        <p:txBody>
          <a:bodyPr/>
          <a:lstStyle/>
          <a:p>
            <a:r>
              <a:rPr lang="en-IN" dirty="0"/>
              <a:t>Email Security</a:t>
            </a:r>
          </a:p>
        </p:txBody>
      </p:sp>
      <p:sp>
        <p:nvSpPr>
          <p:cNvPr id="3" name="Subtitle 2">
            <a:extLst>
              <a:ext uri="{FF2B5EF4-FFF2-40B4-BE49-F238E27FC236}">
                <a16:creationId xmlns:a16="http://schemas.microsoft.com/office/drawing/2014/main" id="{5E72ECA1-2EDF-7079-CBC6-ACB9547C95B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887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59061-862A-917E-B17E-000187197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F8FC8-FD7D-8E60-8DE4-8816D1A456D2}"/>
              </a:ext>
            </a:extLst>
          </p:cNvPr>
          <p:cNvSpPr>
            <a:spLocks noGrp="1"/>
          </p:cNvSpPr>
          <p:nvPr>
            <p:ph type="title"/>
          </p:nvPr>
        </p:nvSpPr>
        <p:spPr>
          <a:xfrm>
            <a:off x="88185" y="139094"/>
            <a:ext cx="11870933" cy="541944"/>
          </a:xfrm>
        </p:spPr>
        <p:txBody>
          <a:bodyPr>
            <a:normAutofit fontScale="90000"/>
          </a:bodyPr>
          <a:lstStyle/>
          <a:p>
            <a:r>
              <a:rPr lang="en-IN" dirty="0"/>
              <a:t>Workflow</a:t>
            </a:r>
          </a:p>
        </p:txBody>
      </p:sp>
      <p:sp>
        <p:nvSpPr>
          <p:cNvPr id="3" name="Content Placeholder 2">
            <a:extLst>
              <a:ext uri="{FF2B5EF4-FFF2-40B4-BE49-F238E27FC236}">
                <a16:creationId xmlns:a16="http://schemas.microsoft.com/office/drawing/2014/main" id="{899D7C14-E7C9-0F1B-8642-2CD63A582763}"/>
              </a:ext>
            </a:extLst>
          </p:cNvPr>
          <p:cNvSpPr>
            <a:spLocks noGrp="1"/>
          </p:cNvSpPr>
          <p:nvPr>
            <p:ph idx="1"/>
          </p:nvPr>
        </p:nvSpPr>
        <p:spPr>
          <a:xfrm>
            <a:off x="88185" y="873303"/>
            <a:ext cx="11870933" cy="5732980"/>
          </a:xfrm>
        </p:spPr>
        <p:txBody>
          <a:bodyPr/>
          <a:lstStyle/>
          <a:p>
            <a:endParaRPr lang="en-IN" dirty="0"/>
          </a:p>
        </p:txBody>
      </p:sp>
    </p:spTree>
    <p:extLst>
      <p:ext uri="{BB962C8B-B14F-4D97-AF65-F5344CB8AC3E}">
        <p14:creationId xmlns:p14="http://schemas.microsoft.com/office/powerpoint/2010/main" val="1256334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571CA-BF22-DCB9-CAE9-D8232C8F9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79FE1-A7C2-4236-D7C5-51D536FE9DBE}"/>
              </a:ext>
            </a:extLst>
          </p:cNvPr>
          <p:cNvSpPr>
            <a:spLocks noGrp="1"/>
          </p:cNvSpPr>
          <p:nvPr>
            <p:ph type="title"/>
          </p:nvPr>
        </p:nvSpPr>
        <p:spPr>
          <a:xfrm>
            <a:off x="88185" y="139094"/>
            <a:ext cx="11870933" cy="541944"/>
          </a:xfrm>
        </p:spPr>
        <p:txBody>
          <a:bodyPr>
            <a:normAutofit fontScale="90000"/>
          </a:bodyPr>
          <a:lstStyle/>
          <a:p>
            <a:r>
              <a:rPr lang="en-IN" dirty="0"/>
              <a:t>Components</a:t>
            </a:r>
          </a:p>
        </p:txBody>
      </p:sp>
      <p:sp>
        <p:nvSpPr>
          <p:cNvPr id="3" name="Content Placeholder 2">
            <a:extLst>
              <a:ext uri="{FF2B5EF4-FFF2-40B4-BE49-F238E27FC236}">
                <a16:creationId xmlns:a16="http://schemas.microsoft.com/office/drawing/2014/main" id="{427FD94F-1EDC-0EB0-F7FD-715ECABB4499}"/>
              </a:ext>
            </a:extLst>
          </p:cNvPr>
          <p:cNvSpPr>
            <a:spLocks noGrp="1"/>
          </p:cNvSpPr>
          <p:nvPr>
            <p:ph idx="1"/>
          </p:nvPr>
        </p:nvSpPr>
        <p:spPr>
          <a:xfrm>
            <a:off x="88185" y="873303"/>
            <a:ext cx="11870933" cy="5732980"/>
          </a:xfrm>
        </p:spPr>
        <p:txBody>
          <a:bodyPr/>
          <a:lstStyle/>
          <a:p>
            <a:endParaRPr lang="en-IN" dirty="0"/>
          </a:p>
        </p:txBody>
      </p:sp>
    </p:spTree>
    <p:extLst>
      <p:ext uri="{BB962C8B-B14F-4D97-AF65-F5344CB8AC3E}">
        <p14:creationId xmlns:p14="http://schemas.microsoft.com/office/powerpoint/2010/main" val="650751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11655-7F2D-81FE-A1E0-52697C2B6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35C37-1FED-FA9B-476B-47348731719A}"/>
              </a:ext>
            </a:extLst>
          </p:cNvPr>
          <p:cNvSpPr>
            <a:spLocks noGrp="1"/>
          </p:cNvSpPr>
          <p:nvPr>
            <p:ph type="title"/>
          </p:nvPr>
        </p:nvSpPr>
        <p:spPr>
          <a:xfrm>
            <a:off x="88185" y="139094"/>
            <a:ext cx="11870933" cy="541944"/>
          </a:xfrm>
        </p:spPr>
        <p:txBody>
          <a:bodyPr>
            <a:normAutofit fontScale="90000"/>
          </a:bodyPr>
          <a:lstStyle/>
          <a:p>
            <a:r>
              <a:rPr lang="en-IN" dirty="0"/>
              <a:t>Protocols</a:t>
            </a:r>
          </a:p>
        </p:txBody>
      </p:sp>
      <p:sp>
        <p:nvSpPr>
          <p:cNvPr id="3" name="Content Placeholder 2">
            <a:extLst>
              <a:ext uri="{FF2B5EF4-FFF2-40B4-BE49-F238E27FC236}">
                <a16:creationId xmlns:a16="http://schemas.microsoft.com/office/drawing/2014/main" id="{760C1379-E6C8-9B3A-F88F-954F98914201}"/>
              </a:ext>
            </a:extLst>
          </p:cNvPr>
          <p:cNvSpPr>
            <a:spLocks noGrp="1"/>
          </p:cNvSpPr>
          <p:nvPr>
            <p:ph idx="1"/>
          </p:nvPr>
        </p:nvSpPr>
        <p:spPr>
          <a:xfrm>
            <a:off x="88185" y="873303"/>
            <a:ext cx="11870933" cy="5732980"/>
          </a:xfrm>
        </p:spPr>
        <p:txBody>
          <a:bodyPr>
            <a:normAutofit fontScale="92500" lnSpcReduction="10000"/>
          </a:bodyPr>
          <a:lstStyle/>
          <a:p>
            <a:r>
              <a:rPr lang="en-US" b="1" dirty="0"/>
              <a:t>Slide Title: Email Infrastructure Protocols</a:t>
            </a:r>
          </a:p>
          <a:p>
            <a:r>
              <a:rPr lang="en-US" b="1" dirty="0"/>
              <a:t>1. Sending Email: SMTP</a:t>
            </a:r>
          </a:p>
          <a:p>
            <a:r>
              <a:rPr lang="en-US" b="1" dirty="0"/>
              <a:t>Full Name:</a:t>
            </a:r>
            <a:r>
              <a:rPr lang="en-US" dirty="0"/>
              <a:t> Simple Mail Transfer Protocol.</a:t>
            </a:r>
          </a:p>
          <a:p>
            <a:r>
              <a:rPr lang="en-US" b="1" dirty="0"/>
              <a:t>Function:</a:t>
            </a:r>
            <a:r>
              <a:rPr lang="en-US" dirty="0"/>
              <a:t> The primary standard for </a:t>
            </a:r>
            <a:r>
              <a:rPr lang="en-US" b="1" dirty="0"/>
              <a:t>sending</a:t>
            </a:r>
            <a:r>
              <a:rPr lang="en-US" dirty="0"/>
              <a:t> and </a:t>
            </a:r>
            <a:r>
              <a:rPr lang="en-US" b="1" dirty="0"/>
              <a:t>forwarding</a:t>
            </a:r>
            <a:r>
              <a:rPr lang="en-US" dirty="0"/>
              <a:t> emails.</a:t>
            </a:r>
          </a:p>
          <a:p>
            <a:r>
              <a:rPr lang="en-US" b="1" dirty="0"/>
              <a:t>Process:</a:t>
            </a:r>
            <a:r>
              <a:rPr lang="en-US" dirty="0"/>
              <a:t> Moves the message from your device (Client) to the Mail Server, or between different Mail Servers.</a:t>
            </a:r>
          </a:p>
          <a:p>
            <a:r>
              <a:rPr lang="en-US" b="1" dirty="0"/>
              <a:t>2. Receiving Email: POP3 vs. IMAP</a:t>
            </a:r>
          </a:p>
          <a:p>
            <a:r>
              <a:rPr lang="en-US" dirty="0"/>
              <a:t>While both retrieve mail from a server, they function differently:</a:t>
            </a:r>
          </a:p>
          <a:p>
            <a:r>
              <a:rPr lang="en-US" b="1" dirty="0"/>
              <a:t>POP3 (Post Office Protocol v3):</a:t>
            </a:r>
            <a:endParaRPr lang="en-US" dirty="0"/>
          </a:p>
          <a:p>
            <a:pPr lvl="1"/>
            <a:r>
              <a:rPr lang="en-US" b="1" dirty="0"/>
              <a:t>Downloads</a:t>
            </a:r>
            <a:r>
              <a:rPr lang="en-US" dirty="0"/>
              <a:t> the email to a single device and usually deletes it from the server.</a:t>
            </a:r>
          </a:p>
          <a:p>
            <a:pPr lvl="1"/>
            <a:r>
              <a:rPr lang="en-US" dirty="0"/>
              <a:t>Best for users who access mail from </a:t>
            </a:r>
            <a:r>
              <a:rPr lang="en-US" b="1" dirty="0"/>
              <a:t>one device</a:t>
            </a:r>
            <a:r>
              <a:rPr lang="en-US" dirty="0"/>
              <a:t> and work offline.</a:t>
            </a:r>
          </a:p>
          <a:p>
            <a:r>
              <a:rPr lang="en-US" b="1" dirty="0"/>
              <a:t>IMAP (Internet Message Access Protocol):</a:t>
            </a:r>
            <a:endParaRPr lang="en-US" dirty="0"/>
          </a:p>
          <a:p>
            <a:pPr lvl="1"/>
            <a:r>
              <a:rPr lang="en-US" b="1" dirty="0"/>
              <a:t>Syncs</a:t>
            </a:r>
            <a:r>
              <a:rPr lang="en-US" dirty="0"/>
              <a:t> the email across multiple devices. The message stays on the server.</a:t>
            </a:r>
          </a:p>
          <a:p>
            <a:pPr lvl="1"/>
            <a:r>
              <a:rPr lang="en-US" dirty="0"/>
              <a:t>Best for modern users who switch between </a:t>
            </a:r>
            <a:r>
              <a:rPr lang="en-US" b="1" dirty="0"/>
              <a:t>phones, laptops, and tablets</a:t>
            </a:r>
            <a:r>
              <a:rPr lang="en-US" dirty="0"/>
              <a:t>.</a:t>
            </a:r>
          </a:p>
          <a:p>
            <a:endParaRPr lang="en-IN" dirty="0"/>
          </a:p>
        </p:txBody>
      </p:sp>
    </p:spTree>
    <p:extLst>
      <p:ext uri="{BB962C8B-B14F-4D97-AF65-F5344CB8AC3E}">
        <p14:creationId xmlns:p14="http://schemas.microsoft.com/office/powerpoint/2010/main" val="1829153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9BF1-8925-6386-5741-A04BD87B9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1A03D-6898-165C-0D1D-E5FBE05A6772}"/>
              </a:ext>
            </a:extLst>
          </p:cNvPr>
          <p:cNvSpPr>
            <a:spLocks noGrp="1"/>
          </p:cNvSpPr>
          <p:nvPr>
            <p:ph type="title"/>
          </p:nvPr>
        </p:nvSpPr>
        <p:spPr>
          <a:xfrm>
            <a:off x="88185" y="139094"/>
            <a:ext cx="11870933" cy="541944"/>
          </a:xfrm>
        </p:spPr>
        <p:txBody>
          <a:bodyPr>
            <a:normAutofit fontScale="90000"/>
          </a:bodyPr>
          <a:lstStyle/>
          <a:p>
            <a:r>
              <a:rPr lang="en-IN" dirty="0"/>
              <a:t>Protocols</a:t>
            </a:r>
          </a:p>
        </p:txBody>
      </p:sp>
      <p:graphicFrame>
        <p:nvGraphicFramePr>
          <p:cNvPr id="4" name="Content Placeholder 3">
            <a:extLst>
              <a:ext uri="{FF2B5EF4-FFF2-40B4-BE49-F238E27FC236}">
                <a16:creationId xmlns:a16="http://schemas.microsoft.com/office/drawing/2014/main" id="{AD3BF38B-E395-36AB-9BAD-23C2AFCA501F}"/>
              </a:ext>
            </a:extLst>
          </p:cNvPr>
          <p:cNvGraphicFramePr>
            <a:graphicFrameLocks noGrp="1"/>
          </p:cNvGraphicFramePr>
          <p:nvPr>
            <p:ph idx="1"/>
            <p:extLst>
              <p:ext uri="{D42A27DB-BD31-4B8C-83A1-F6EECF244321}">
                <p14:modId xmlns:p14="http://schemas.microsoft.com/office/powerpoint/2010/main" val="3795643483"/>
              </p:ext>
            </p:extLst>
          </p:nvPr>
        </p:nvGraphicFramePr>
        <p:xfrm>
          <a:off x="426922" y="1376680"/>
          <a:ext cx="10515600" cy="2052320"/>
        </p:xfrm>
        <a:graphic>
          <a:graphicData uri="http://schemas.openxmlformats.org/drawingml/2006/table">
            <a:tbl>
              <a:tblPr/>
              <a:tblGrid>
                <a:gridCol w="2628900">
                  <a:extLst>
                    <a:ext uri="{9D8B030D-6E8A-4147-A177-3AD203B41FA5}">
                      <a16:colId xmlns:a16="http://schemas.microsoft.com/office/drawing/2014/main" val="140196521"/>
                    </a:ext>
                  </a:extLst>
                </a:gridCol>
                <a:gridCol w="2628900">
                  <a:extLst>
                    <a:ext uri="{9D8B030D-6E8A-4147-A177-3AD203B41FA5}">
                      <a16:colId xmlns:a16="http://schemas.microsoft.com/office/drawing/2014/main" val="4288391830"/>
                    </a:ext>
                  </a:extLst>
                </a:gridCol>
                <a:gridCol w="2628900">
                  <a:extLst>
                    <a:ext uri="{9D8B030D-6E8A-4147-A177-3AD203B41FA5}">
                      <a16:colId xmlns:a16="http://schemas.microsoft.com/office/drawing/2014/main" val="2694715438"/>
                    </a:ext>
                  </a:extLst>
                </a:gridCol>
                <a:gridCol w="2628900">
                  <a:extLst>
                    <a:ext uri="{9D8B030D-6E8A-4147-A177-3AD203B41FA5}">
                      <a16:colId xmlns:a16="http://schemas.microsoft.com/office/drawing/2014/main" val="1208211605"/>
                    </a:ext>
                  </a:extLst>
                </a:gridCol>
              </a:tblGrid>
              <a:tr h="0">
                <a:tc>
                  <a:txBody>
                    <a:bodyPr/>
                    <a:lstStyle/>
                    <a:p>
                      <a:pPr rtl="0">
                        <a:buNone/>
                      </a:pPr>
                      <a:r>
                        <a:rPr lang="en-IN" b="1">
                          <a:solidFill>
                            <a:srgbClr val="1F1F1F"/>
                          </a:solidFill>
                          <a:effectLst/>
                          <a:latin typeface="Google Sans Text"/>
                        </a:rPr>
                        <a:t>Protocol</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Primary Function</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Direction</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Best For...</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58413287"/>
                  </a:ext>
                </a:extLst>
              </a:tr>
              <a:tr h="0">
                <a:tc>
                  <a:txBody>
                    <a:bodyPr/>
                    <a:lstStyle/>
                    <a:p>
                      <a:pPr rtl="0">
                        <a:buNone/>
                      </a:pPr>
                      <a:r>
                        <a:rPr lang="en-IN" b="1">
                          <a:solidFill>
                            <a:srgbClr val="1F1F1F"/>
                          </a:solidFill>
                          <a:effectLst/>
                          <a:latin typeface="Google Sans Text"/>
                        </a:rPr>
                        <a:t>SMTP</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Sending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Client → Server</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Outbound mail</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86168196"/>
                  </a:ext>
                </a:extLst>
              </a:tr>
              <a:tr h="0">
                <a:tc>
                  <a:txBody>
                    <a:bodyPr/>
                    <a:lstStyle/>
                    <a:p>
                      <a:pPr rtl="0">
                        <a:buNone/>
                      </a:pPr>
                      <a:r>
                        <a:rPr lang="en-IN" b="1">
                          <a:solidFill>
                            <a:srgbClr val="1F1F1F"/>
                          </a:solidFill>
                          <a:effectLst/>
                          <a:latin typeface="Google Sans Text"/>
                        </a:rPr>
                        <a:t>POP3</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Receiving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Server → Client</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Offline/Single device access</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40191951"/>
                  </a:ext>
                </a:extLst>
              </a:tr>
              <a:tr h="0">
                <a:tc>
                  <a:txBody>
                    <a:bodyPr/>
                    <a:lstStyle/>
                    <a:p>
                      <a:pPr rtl="0">
                        <a:buNone/>
                      </a:pPr>
                      <a:r>
                        <a:rPr lang="en-IN" b="1">
                          <a:solidFill>
                            <a:srgbClr val="1F1F1F"/>
                          </a:solidFill>
                          <a:effectLst/>
                          <a:latin typeface="Google Sans Text"/>
                        </a:rPr>
                        <a:t>IMAP</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Syncing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Server ↔ Client</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Multi-device synchronization</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81931589"/>
                  </a:ext>
                </a:extLst>
              </a:tr>
            </a:tbl>
          </a:graphicData>
        </a:graphic>
      </p:graphicFrame>
      <p:graphicFrame>
        <p:nvGraphicFramePr>
          <p:cNvPr id="5" name="Table 4">
            <a:extLst>
              <a:ext uri="{FF2B5EF4-FFF2-40B4-BE49-F238E27FC236}">
                <a16:creationId xmlns:a16="http://schemas.microsoft.com/office/drawing/2014/main" id="{9E35C0A5-CE08-CE6E-70C8-B6B9ACD2FB36}"/>
              </a:ext>
            </a:extLst>
          </p:cNvPr>
          <p:cNvGraphicFramePr>
            <a:graphicFrameLocks noGrp="1"/>
          </p:cNvGraphicFramePr>
          <p:nvPr>
            <p:extLst>
              <p:ext uri="{D42A27DB-BD31-4B8C-83A1-F6EECF244321}">
                <p14:modId xmlns:p14="http://schemas.microsoft.com/office/powerpoint/2010/main" val="334694511"/>
              </p:ext>
            </p:extLst>
          </p:nvPr>
        </p:nvGraphicFramePr>
        <p:xfrm>
          <a:off x="426922" y="4124642"/>
          <a:ext cx="10515600" cy="1503680"/>
        </p:xfrm>
        <a:graphic>
          <a:graphicData uri="http://schemas.openxmlformats.org/drawingml/2006/table">
            <a:tbl>
              <a:tblPr/>
              <a:tblGrid>
                <a:gridCol w="2628900">
                  <a:extLst>
                    <a:ext uri="{9D8B030D-6E8A-4147-A177-3AD203B41FA5}">
                      <a16:colId xmlns:a16="http://schemas.microsoft.com/office/drawing/2014/main" val="2647376160"/>
                    </a:ext>
                  </a:extLst>
                </a:gridCol>
                <a:gridCol w="2628900">
                  <a:extLst>
                    <a:ext uri="{9D8B030D-6E8A-4147-A177-3AD203B41FA5}">
                      <a16:colId xmlns:a16="http://schemas.microsoft.com/office/drawing/2014/main" val="791031774"/>
                    </a:ext>
                  </a:extLst>
                </a:gridCol>
                <a:gridCol w="2628900">
                  <a:extLst>
                    <a:ext uri="{9D8B030D-6E8A-4147-A177-3AD203B41FA5}">
                      <a16:colId xmlns:a16="http://schemas.microsoft.com/office/drawing/2014/main" val="976645693"/>
                    </a:ext>
                  </a:extLst>
                </a:gridCol>
                <a:gridCol w="2628900">
                  <a:extLst>
                    <a:ext uri="{9D8B030D-6E8A-4147-A177-3AD203B41FA5}">
                      <a16:colId xmlns:a16="http://schemas.microsoft.com/office/drawing/2014/main" val="4080847658"/>
                    </a:ext>
                  </a:extLst>
                </a:gridCol>
              </a:tblGrid>
              <a:tr h="0">
                <a:tc>
                  <a:txBody>
                    <a:bodyPr/>
                    <a:lstStyle/>
                    <a:p>
                      <a:pPr rtl="0">
                        <a:buNone/>
                      </a:pPr>
                      <a:r>
                        <a:rPr lang="en-IN" b="1">
                          <a:solidFill>
                            <a:srgbClr val="1F1F1F"/>
                          </a:solidFill>
                          <a:effectLst/>
                          <a:latin typeface="Google Sans Text"/>
                        </a:rPr>
                        <a:t>Protocol</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Purpose</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Non-Secure Port</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Secure (SSL/TLS) Port</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17466637"/>
                  </a:ext>
                </a:extLst>
              </a:tr>
              <a:tr h="0">
                <a:tc>
                  <a:txBody>
                    <a:bodyPr/>
                    <a:lstStyle/>
                    <a:p>
                      <a:pPr rtl="0">
                        <a:buNone/>
                      </a:pPr>
                      <a:r>
                        <a:rPr lang="en-IN" b="1">
                          <a:solidFill>
                            <a:srgbClr val="1F1F1F"/>
                          </a:solidFill>
                          <a:effectLst/>
                          <a:latin typeface="Google Sans Text"/>
                        </a:rPr>
                        <a:t>SMTP</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Sending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25 / 587</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465</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64229606"/>
                  </a:ext>
                </a:extLst>
              </a:tr>
              <a:tr h="0">
                <a:tc>
                  <a:txBody>
                    <a:bodyPr/>
                    <a:lstStyle/>
                    <a:p>
                      <a:pPr rtl="0">
                        <a:buNone/>
                      </a:pPr>
                      <a:r>
                        <a:rPr lang="en-IN" b="1">
                          <a:solidFill>
                            <a:srgbClr val="1F1F1F"/>
                          </a:solidFill>
                          <a:effectLst/>
                          <a:latin typeface="Google Sans Text"/>
                        </a:rPr>
                        <a:t>POP3</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Receiving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110</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995</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07411053"/>
                  </a:ext>
                </a:extLst>
              </a:tr>
              <a:tr h="0">
                <a:tc>
                  <a:txBody>
                    <a:bodyPr/>
                    <a:lstStyle/>
                    <a:p>
                      <a:pPr rtl="0">
                        <a:buNone/>
                      </a:pPr>
                      <a:r>
                        <a:rPr lang="en-IN" b="1">
                          <a:solidFill>
                            <a:srgbClr val="1F1F1F"/>
                          </a:solidFill>
                          <a:effectLst/>
                          <a:latin typeface="Google Sans Text"/>
                        </a:rPr>
                        <a:t>IMAP</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Syncing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143</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993</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42435961"/>
                  </a:ext>
                </a:extLst>
              </a:tr>
            </a:tbl>
          </a:graphicData>
        </a:graphic>
      </p:graphicFrame>
    </p:spTree>
    <p:extLst>
      <p:ext uri="{BB962C8B-B14F-4D97-AF65-F5344CB8AC3E}">
        <p14:creationId xmlns:p14="http://schemas.microsoft.com/office/powerpoint/2010/main" val="2825587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01CA7-3013-57B5-12FF-BA071E235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58EE1-01CD-6C9B-6B70-2B8A0C91B480}"/>
              </a:ext>
            </a:extLst>
          </p:cNvPr>
          <p:cNvSpPr>
            <a:spLocks noGrp="1"/>
          </p:cNvSpPr>
          <p:nvPr>
            <p:ph type="title"/>
          </p:nvPr>
        </p:nvSpPr>
        <p:spPr>
          <a:xfrm>
            <a:off x="88185" y="139094"/>
            <a:ext cx="11870933" cy="541944"/>
          </a:xfrm>
        </p:spPr>
        <p:txBody>
          <a:bodyPr>
            <a:normAutofit fontScale="90000"/>
          </a:bodyPr>
          <a:lstStyle/>
          <a:p>
            <a:r>
              <a:rPr lang="en-IN" dirty="0"/>
              <a:t>Protocols</a:t>
            </a:r>
          </a:p>
        </p:txBody>
      </p:sp>
      <p:sp>
        <p:nvSpPr>
          <p:cNvPr id="3" name="Content Placeholder 2">
            <a:extLst>
              <a:ext uri="{FF2B5EF4-FFF2-40B4-BE49-F238E27FC236}">
                <a16:creationId xmlns:a16="http://schemas.microsoft.com/office/drawing/2014/main" id="{2BC5F599-3EF4-C712-2A61-0205B76AE678}"/>
              </a:ext>
            </a:extLst>
          </p:cNvPr>
          <p:cNvSpPr>
            <a:spLocks noGrp="1"/>
          </p:cNvSpPr>
          <p:nvPr>
            <p:ph idx="1"/>
          </p:nvPr>
        </p:nvSpPr>
        <p:spPr>
          <a:xfrm>
            <a:off x="88185" y="873303"/>
            <a:ext cx="11870933" cy="5732980"/>
          </a:xfrm>
        </p:spPr>
        <p:txBody>
          <a:bodyPr>
            <a:normAutofit fontScale="85000" lnSpcReduction="20000"/>
          </a:bodyPr>
          <a:lstStyle/>
          <a:p>
            <a:r>
              <a:rPr lang="en-IN" dirty="0"/>
              <a:t>Here is a slide covering the common port numbers for email protocols, which is a standard technical requirement for understanding email infrastructure.</a:t>
            </a:r>
          </a:p>
          <a:p>
            <a:br>
              <a:rPr lang="en-IN" dirty="0"/>
            </a:br>
            <a:endParaRPr lang="en-IN" dirty="0"/>
          </a:p>
          <a:p>
            <a:r>
              <a:rPr lang="en-IN" b="1" dirty="0"/>
              <a:t>Slide Title: Common Email Port Numbers</a:t>
            </a:r>
          </a:p>
          <a:p>
            <a:r>
              <a:rPr lang="en-IN" b="1" dirty="0"/>
              <a:t>1. SMTP (Sending)</a:t>
            </a:r>
          </a:p>
          <a:p>
            <a:r>
              <a:rPr lang="en-IN" b="1" dirty="0"/>
              <a:t>Port 25:</a:t>
            </a:r>
            <a:r>
              <a:rPr lang="en-IN" dirty="0"/>
              <a:t> The original standard, now primarily used for server-to-server communication.</a:t>
            </a:r>
          </a:p>
          <a:p>
            <a:r>
              <a:rPr lang="en-IN" b="1" dirty="0"/>
              <a:t>Port 465:</a:t>
            </a:r>
            <a:r>
              <a:rPr lang="en-IN" dirty="0"/>
              <a:t> Used for </a:t>
            </a:r>
            <a:r>
              <a:rPr lang="en-IN" b="1" dirty="0"/>
              <a:t>SMTPS</a:t>
            </a:r>
            <a:r>
              <a:rPr lang="en-IN" dirty="0"/>
              <a:t> (SMTP over SSL) for secure transmission.</a:t>
            </a:r>
          </a:p>
          <a:p>
            <a:r>
              <a:rPr lang="en-IN" b="1" dirty="0"/>
              <a:t>Port 587:</a:t>
            </a:r>
            <a:r>
              <a:rPr lang="en-IN" dirty="0"/>
              <a:t> The modern default for email submission (Client to Server), usually paired with STARTTLS encryption.</a:t>
            </a:r>
          </a:p>
          <a:p>
            <a:r>
              <a:rPr lang="en-IN" b="1" dirty="0"/>
              <a:t>2. POP3 (Receiving)</a:t>
            </a:r>
          </a:p>
          <a:p>
            <a:r>
              <a:rPr lang="en-IN" b="1" dirty="0"/>
              <a:t>Port 110:</a:t>
            </a:r>
            <a:r>
              <a:rPr lang="en-IN" dirty="0"/>
              <a:t> Standard, non-encrypted port.</a:t>
            </a:r>
          </a:p>
          <a:p>
            <a:r>
              <a:rPr lang="en-IN" b="1" dirty="0"/>
              <a:t>Port 995:</a:t>
            </a:r>
            <a:r>
              <a:rPr lang="en-IN" dirty="0"/>
              <a:t> Secure port used for </a:t>
            </a:r>
            <a:r>
              <a:rPr lang="en-IN" b="1" dirty="0"/>
              <a:t>POP3S</a:t>
            </a:r>
            <a:r>
              <a:rPr lang="en-IN" dirty="0"/>
              <a:t> (POP3 over SSL/TLS).</a:t>
            </a:r>
          </a:p>
          <a:p>
            <a:r>
              <a:rPr lang="en-IN" b="1" dirty="0"/>
              <a:t>3. IMAP (Syncing)</a:t>
            </a:r>
          </a:p>
          <a:p>
            <a:r>
              <a:rPr lang="en-IN" b="1" dirty="0"/>
              <a:t>Port 143:</a:t>
            </a:r>
            <a:r>
              <a:rPr lang="en-IN" dirty="0"/>
              <a:t> Standard, non-encrypted port.</a:t>
            </a:r>
          </a:p>
          <a:p>
            <a:r>
              <a:rPr lang="en-IN" b="1" dirty="0"/>
              <a:t>Port 993:</a:t>
            </a:r>
            <a:r>
              <a:rPr lang="en-IN" dirty="0"/>
              <a:t> Secure port used for </a:t>
            </a:r>
            <a:r>
              <a:rPr lang="en-IN" b="1" dirty="0"/>
              <a:t>IMAPS</a:t>
            </a:r>
            <a:r>
              <a:rPr lang="en-IN" dirty="0"/>
              <a:t> (IMAP over SSL/TLS).</a:t>
            </a:r>
          </a:p>
        </p:txBody>
      </p:sp>
    </p:spTree>
    <p:extLst>
      <p:ext uri="{BB962C8B-B14F-4D97-AF65-F5344CB8AC3E}">
        <p14:creationId xmlns:p14="http://schemas.microsoft.com/office/powerpoint/2010/main" val="1901110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65F18-DBAF-6C3B-6F6E-77766A91F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18EA1-BD52-F1B4-3014-E5841F791927}"/>
              </a:ext>
            </a:extLst>
          </p:cNvPr>
          <p:cNvSpPr>
            <a:spLocks noGrp="1"/>
          </p:cNvSpPr>
          <p:nvPr>
            <p:ph type="title"/>
          </p:nvPr>
        </p:nvSpPr>
        <p:spPr>
          <a:xfrm>
            <a:off x="88185" y="139094"/>
            <a:ext cx="11870933" cy="541944"/>
          </a:xfrm>
        </p:spPr>
        <p:txBody>
          <a:bodyPr>
            <a:normAutofit fontScale="90000"/>
          </a:bodyPr>
          <a:lstStyle/>
          <a:p>
            <a:r>
              <a:rPr lang="en-IN" dirty="0"/>
              <a:t>Threats</a:t>
            </a:r>
          </a:p>
        </p:txBody>
      </p:sp>
      <p:sp>
        <p:nvSpPr>
          <p:cNvPr id="3" name="Content Placeholder 2">
            <a:extLst>
              <a:ext uri="{FF2B5EF4-FFF2-40B4-BE49-F238E27FC236}">
                <a16:creationId xmlns:a16="http://schemas.microsoft.com/office/drawing/2014/main" id="{AD7FE83D-77E4-F169-68D6-C2F8E44820F2}"/>
              </a:ext>
            </a:extLst>
          </p:cNvPr>
          <p:cNvSpPr>
            <a:spLocks noGrp="1"/>
          </p:cNvSpPr>
          <p:nvPr>
            <p:ph idx="1"/>
          </p:nvPr>
        </p:nvSpPr>
        <p:spPr>
          <a:xfrm>
            <a:off x="88185" y="873303"/>
            <a:ext cx="11870933" cy="5732980"/>
          </a:xfrm>
        </p:spPr>
        <p:txBody>
          <a:bodyPr/>
          <a:lstStyle/>
          <a:p>
            <a:endParaRPr lang="en-IN" dirty="0"/>
          </a:p>
        </p:txBody>
      </p:sp>
    </p:spTree>
    <p:extLst>
      <p:ext uri="{BB962C8B-B14F-4D97-AF65-F5344CB8AC3E}">
        <p14:creationId xmlns:p14="http://schemas.microsoft.com/office/powerpoint/2010/main" val="3220159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1DD5B-CEF0-936A-27D3-9D5BE3F587CB}"/>
              </a:ext>
            </a:extLst>
          </p:cNvPr>
          <p:cNvSpPr>
            <a:spLocks noGrp="1"/>
          </p:cNvSpPr>
          <p:nvPr>
            <p:ph type="title"/>
          </p:nvPr>
        </p:nvSpPr>
        <p:spPr>
          <a:xfrm>
            <a:off x="88185" y="139094"/>
            <a:ext cx="11870933" cy="541944"/>
          </a:xfrm>
        </p:spPr>
        <p:txBody>
          <a:bodyPr>
            <a:normAutofit fontScale="90000"/>
          </a:bodyPr>
          <a:lstStyle/>
          <a:p>
            <a:r>
              <a:rPr lang="en-IN" dirty="0"/>
              <a:t>Threats</a:t>
            </a:r>
          </a:p>
        </p:txBody>
      </p:sp>
      <p:sp>
        <p:nvSpPr>
          <p:cNvPr id="3" name="Content Placeholder 2">
            <a:extLst>
              <a:ext uri="{FF2B5EF4-FFF2-40B4-BE49-F238E27FC236}">
                <a16:creationId xmlns:a16="http://schemas.microsoft.com/office/drawing/2014/main" id="{F8532B45-E175-A5B2-107A-65DE08B7A46F}"/>
              </a:ext>
            </a:extLst>
          </p:cNvPr>
          <p:cNvSpPr>
            <a:spLocks noGrp="1"/>
          </p:cNvSpPr>
          <p:nvPr>
            <p:ph idx="1"/>
          </p:nvPr>
        </p:nvSpPr>
        <p:spPr>
          <a:xfrm>
            <a:off x="88185" y="873303"/>
            <a:ext cx="11870933" cy="5732980"/>
          </a:xfrm>
        </p:spPr>
        <p:txBody>
          <a:bodyPr>
            <a:normAutofit fontScale="92500" lnSpcReduction="20000"/>
          </a:bodyPr>
          <a:lstStyle/>
          <a:p>
            <a:pPr marL="0" indent="0">
              <a:buNone/>
            </a:pPr>
            <a:r>
              <a:rPr lang="en-IN" b="1" dirty="0"/>
              <a:t>Slide 1: Common Email-Based Threats</a:t>
            </a:r>
          </a:p>
          <a:p>
            <a:r>
              <a:rPr lang="en-IN" b="1" dirty="0"/>
              <a:t>Spam:</a:t>
            </a:r>
            <a:r>
              <a:rPr lang="en-IN" dirty="0"/>
              <a:t> Unsolicited bulk messages used for advertising or spreading malicious links.</a:t>
            </a:r>
          </a:p>
          <a:p>
            <a:r>
              <a:rPr lang="en-IN" b="1" dirty="0"/>
              <a:t>Malware:</a:t>
            </a:r>
            <a:r>
              <a:rPr lang="en-IN" dirty="0"/>
              <a:t> Malicious software (viruses, ransomware) delivered via email attachments.</a:t>
            </a:r>
          </a:p>
          <a:p>
            <a:r>
              <a:rPr lang="en-IN" b="1" dirty="0"/>
              <a:t>Phishing:</a:t>
            </a:r>
            <a:r>
              <a:rPr lang="en-IN" dirty="0"/>
              <a:t> Deceptive emails designed to steal sensitive data or login credentials.</a:t>
            </a:r>
          </a:p>
          <a:p>
            <a:r>
              <a:rPr lang="en-IN" b="1" dirty="0"/>
              <a:t>URL Hiding:</a:t>
            </a:r>
            <a:r>
              <a:rPr lang="en-IN" dirty="0"/>
              <a:t> Masking malicious links within legitimate-looking text or buttons to bypass user scrutiny.</a:t>
            </a:r>
          </a:p>
          <a:p>
            <a:pPr marL="0" indent="0">
              <a:buNone/>
            </a:pPr>
            <a:r>
              <a:rPr lang="en-US" b="1" dirty="0"/>
              <a:t>Slide 2: Social Engineering Tactics</a:t>
            </a:r>
          </a:p>
          <a:p>
            <a:r>
              <a:rPr lang="en-US" b="1" dirty="0"/>
              <a:t>Definition:</a:t>
            </a:r>
            <a:r>
              <a:rPr lang="en-US" dirty="0"/>
              <a:t> Using psychological manipulation and "pretexting" (deception) to trick individuals into divulging secrets.</a:t>
            </a:r>
          </a:p>
          <a:p>
            <a:r>
              <a:rPr lang="en-US" b="1" dirty="0"/>
              <a:t>Spear Phishing:</a:t>
            </a:r>
            <a:r>
              <a:rPr lang="en-US" dirty="0"/>
              <a:t> A highly targeted version of phishing aimed at a specific individual or organization.</a:t>
            </a:r>
          </a:p>
          <a:p>
            <a:r>
              <a:rPr lang="en-US" b="1" dirty="0"/>
              <a:t>Vishing (Voice Phishing):</a:t>
            </a:r>
            <a:r>
              <a:rPr lang="en-US" dirty="0"/>
              <a:t> Using phone calls or voice messages to solicit information. </a:t>
            </a:r>
            <a:r>
              <a:rPr lang="en-US" i="1" dirty="0"/>
              <a:t>Example:</a:t>
            </a:r>
            <a:r>
              <a:rPr lang="en-US" dirty="0"/>
              <a:t> Fraudulent "IRS" calls demanding payment via gift cards.</a:t>
            </a:r>
          </a:p>
          <a:p>
            <a:r>
              <a:rPr lang="en-US" b="1" dirty="0"/>
              <a:t>Business Email Compromise (BEC):</a:t>
            </a:r>
            <a:r>
              <a:rPr lang="en-US" dirty="0"/>
              <a:t> Impersonating executives to authorize fraudulent wire transfers. </a:t>
            </a:r>
            <a:r>
              <a:rPr lang="en-US" i="1" dirty="0"/>
              <a:t>(Added for completeness)</a:t>
            </a:r>
            <a:endParaRPr lang="en-US" dirty="0"/>
          </a:p>
        </p:txBody>
      </p:sp>
    </p:spTree>
    <p:extLst>
      <p:ext uri="{BB962C8B-B14F-4D97-AF65-F5344CB8AC3E}">
        <p14:creationId xmlns:p14="http://schemas.microsoft.com/office/powerpoint/2010/main" val="2997862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C33D6-65D9-174F-E342-023A03D1E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FD4E6-AE9B-1AF9-F1B9-E943382435A7}"/>
              </a:ext>
            </a:extLst>
          </p:cNvPr>
          <p:cNvSpPr>
            <a:spLocks noGrp="1"/>
          </p:cNvSpPr>
          <p:nvPr>
            <p:ph type="title"/>
          </p:nvPr>
        </p:nvSpPr>
        <p:spPr>
          <a:xfrm>
            <a:off x="88185" y="139094"/>
            <a:ext cx="11870933" cy="541944"/>
          </a:xfrm>
        </p:spPr>
        <p:txBody>
          <a:bodyPr>
            <a:normAutofit fontScale="90000"/>
          </a:bodyPr>
          <a:lstStyle/>
          <a:p>
            <a:r>
              <a:rPr lang="en-IN" dirty="0"/>
              <a:t>Security Controls</a:t>
            </a:r>
          </a:p>
        </p:txBody>
      </p:sp>
      <p:sp>
        <p:nvSpPr>
          <p:cNvPr id="3" name="Content Placeholder 2">
            <a:extLst>
              <a:ext uri="{FF2B5EF4-FFF2-40B4-BE49-F238E27FC236}">
                <a16:creationId xmlns:a16="http://schemas.microsoft.com/office/drawing/2014/main" id="{5AE84BB6-B4EF-1D78-5AE1-43599E0144B3}"/>
              </a:ext>
            </a:extLst>
          </p:cNvPr>
          <p:cNvSpPr>
            <a:spLocks noGrp="1"/>
          </p:cNvSpPr>
          <p:nvPr>
            <p:ph idx="1"/>
          </p:nvPr>
        </p:nvSpPr>
        <p:spPr>
          <a:xfrm>
            <a:off x="88185" y="873303"/>
            <a:ext cx="11870933" cy="5732980"/>
          </a:xfrm>
        </p:spPr>
        <p:txBody>
          <a:bodyPr/>
          <a:lstStyle/>
          <a:p>
            <a:r>
              <a:rPr lang="en-US" b="1" dirty="0"/>
              <a:t>Slide 3: Email Defense &amp; Security Standards</a:t>
            </a:r>
          </a:p>
          <a:p>
            <a:r>
              <a:rPr lang="en-US" b="1" dirty="0"/>
              <a:t>S/MIME (Secure/Multipurpose Internet Mail Extensions)</a:t>
            </a:r>
          </a:p>
          <a:p>
            <a:r>
              <a:rPr lang="en-US" dirty="0"/>
              <a:t>A protocol used to add cryptographic security to emails through:</a:t>
            </a:r>
          </a:p>
          <a:p>
            <a:r>
              <a:rPr lang="en-US" b="1" dirty="0"/>
              <a:t>Authentication:</a:t>
            </a:r>
            <a:r>
              <a:rPr lang="en-US" dirty="0"/>
              <a:t> Verifies the sender's true identity.</a:t>
            </a:r>
          </a:p>
          <a:p>
            <a:r>
              <a:rPr lang="en-US" b="1" dirty="0"/>
              <a:t>Non-repudiation:</a:t>
            </a:r>
            <a:r>
              <a:rPr lang="en-US" dirty="0"/>
              <a:t> Prevents a sender from denying they sent a message.</a:t>
            </a:r>
          </a:p>
          <a:p>
            <a:r>
              <a:rPr lang="en-US" b="1" dirty="0"/>
              <a:t>Integrity:</a:t>
            </a:r>
            <a:r>
              <a:rPr lang="en-US" dirty="0"/>
              <a:t> Ensures the message was not altered during transit.</a:t>
            </a:r>
          </a:p>
          <a:p>
            <a:r>
              <a:rPr lang="en-US" b="1" dirty="0"/>
              <a:t>Privacy:</a:t>
            </a:r>
            <a:r>
              <a:rPr lang="en-US" dirty="0"/>
              <a:t> Encrypts message content to prevent unauthorized reading.</a:t>
            </a:r>
          </a:p>
          <a:p>
            <a:endParaRPr lang="en-IN" dirty="0"/>
          </a:p>
        </p:txBody>
      </p:sp>
    </p:spTree>
    <p:extLst>
      <p:ext uri="{BB962C8B-B14F-4D97-AF65-F5344CB8AC3E}">
        <p14:creationId xmlns:p14="http://schemas.microsoft.com/office/powerpoint/2010/main" val="2377856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E2BA-0CE6-1DB9-59E0-26F38C333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6B849-6A4D-93D4-FA77-C90D221F2474}"/>
              </a:ext>
            </a:extLst>
          </p:cNvPr>
          <p:cNvSpPr>
            <a:spLocks noGrp="1"/>
          </p:cNvSpPr>
          <p:nvPr>
            <p:ph type="title"/>
          </p:nvPr>
        </p:nvSpPr>
        <p:spPr>
          <a:xfrm>
            <a:off x="88185" y="139094"/>
            <a:ext cx="11870933" cy="541944"/>
          </a:xfrm>
        </p:spPr>
        <p:txBody>
          <a:bodyPr>
            <a:normAutofit fontScale="90000"/>
          </a:bodyPr>
          <a:lstStyle/>
          <a:p>
            <a:r>
              <a:rPr lang="en-IN" dirty="0"/>
              <a:t>Authentication</a:t>
            </a:r>
          </a:p>
        </p:txBody>
      </p:sp>
      <p:sp>
        <p:nvSpPr>
          <p:cNvPr id="3" name="Content Placeholder 2">
            <a:extLst>
              <a:ext uri="{FF2B5EF4-FFF2-40B4-BE49-F238E27FC236}">
                <a16:creationId xmlns:a16="http://schemas.microsoft.com/office/drawing/2014/main" id="{51F80FAC-1485-83D0-8B92-BC2C6A6C7725}"/>
              </a:ext>
            </a:extLst>
          </p:cNvPr>
          <p:cNvSpPr>
            <a:spLocks noGrp="1"/>
          </p:cNvSpPr>
          <p:nvPr>
            <p:ph idx="1"/>
          </p:nvPr>
        </p:nvSpPr>
        <p:spPr>
          <a:xfrm>
            <a:off x="88185" y="873303"/>
            <a:ext cx="11870933" cy="5732980"/>
          </a:xfrm>
        </p:spPr>
        <p:txBody>
          <a:bodyPr/>
          <a:lstStyle/>
          <a:p>
            <a:r>
              <a:rPr lang="en-US" b="1" dirty="0"/>
              <a:t>Slide 4: Best Practices for Prevention</a:t>
            </a:r>
          </a:p>
          <a:p>
            <a:r>
              <a:rPr lang="en-US" b="1" dirty="0"/>
              <a:t>Verify the Sender:</a:t>
            </a:r>
            <a:r>
              <a:rPr lang="en-US" dirty="0"/>
              <a:t> Check for slight misspellings in email addresses.</a:t>
            </a:r>
          </a:p>
          <a:p>
            <a:r>
              <a:rPr lang="en-US" b="1" dirty="0"/>
              <a:t>Hover Before Clicking:</a:t>
            </a:r>
            <a:r>
              <a:rPr lang="en-US" dirty="0"/>
              <a:t> Always check the destination of a URL before clicking.</a:t>
            </a:r>
          </a:p>
          <a:p>
            <a:r>
              <a:rPr lang="en-US" b="1" dirty="0"/>
              <a:t>Enable MFA:</a:t>
            </a:r>
            <a:r>
              <a:rPr lang="en-US" dirty="0"/>
              <a:t> Multi-Factor Authentication provides a critical second line of defense.</a:t>
            </a:r>
          </a:p>
          <a:p>
            <a:r>
              <a:rPr lang="en-US" b="1" dirty="0"/>
              <a:t>Report Suspicious Activity:</a:t>
            </a:r>
            <a:r>
              <a:rPr lang="en-US" dirty="0"/>
              <a:t> Use internal "Report Phishing" tools to alert IT security teams.</a:t>
            </a:r>
          </a:p>
          <a:p>
            <a:endParaRPr lang="en-IN" dirty="0"/>
          </a:p>
        </p:txBody>
      </p:sp>
    </p:spTree>
    <p:extLst>
      <p:ext uri="{BB962C8B-B14F-4D97-AF65-F5344CB8AC3E}">
        <p14:creationId xmlns:p14="http://schemas.microsoft.com/office/powerpoint/2010/main" val="352804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142E-C853-B285-F46E-A6DB07E99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F42E1-12CE-808B-905B-BE485C6D071F}"/>
              </a:ext>
            </a:extLst>
          </p:cNvPr>
          <p:cNvSpPr>
            <a:spLocks noGrp="1"/>
          </p:cNvSpPr>
          <p:nvPr>
            <p:ph type="title"/>
          </p:nvPr>
        </p:nvSpPr>
        <p:spPr>
          <a:xfrm>
            <a:off x="88185" y="139094"/>
            <a:ext cx="11870933" cy="541944"/>
          </a:xfrm>
        </p:spPr>
        <p:txBody>
          <a:bodyPr>
            <a:normAutofit fontScale="90000"/>
          </a:bodyPr>
          <a:lstStyle/>
          <a:p>
            <a:r>
              <a:rPr lang="en-IN" dirty="0"/>
              <a:t>Authentication</a:t>
            </a:r>
          </a:p>
        </p:txBody>
      </p:sp>
      <p:sp>
        <p:nvSpPr>
          <p:cNvPr id="3" name="Content Placeholder 2">
            <a:extLst>
              <a:ext uri="{FF2B5EF4-FFF2-40B4-BE49-F238E27FC236}">
                <a16:creationId xmlns:a16="http://schemas.microsoft.com/office/drawing/2014/main" id="{F2F5EF82-FE18-B056-71C9-CDE4258AE8FF}"/>
              </a:ext>
            </a:extLst>
          </p:cNvPr>
          <p:cNvSpPr>
            <a:spLocks noGrp="1"/>
          </p:cNvSpPr>
          <p:nvPr>
            <p:ph idx="1"/>
          </p:nvPr>
        </p:nvSpPr>
        <p:spPr>
          <a:xfrm>
            <a:off x="88185" y="873303"/>
            <a:ext cx="11870933" cy="5732980"/>
          </a:xfrm>
        </p:spPr>
        <p:txBody>
          <a:bodyPr>
            <a:normAutofit fontScale="70000" lnSpcReduction="20000"/>
          </a:bodyPr>
          <a:lstStyle/>
          <a:p>
            <a:r>
              <a:rPr lang="en-US" b="1" dirty="0"/>
              <a:t>Slide 1: Title Slide</a:t>
            </a:r>
          </a:p>
          <a:p>
            <a:r>
              <a:rPr lang="en-US" b="1" dirty="0"/>
              <a:t>Email Security &amp; Infrastructure</a:t>
            </a:r>
          </a:p>
          <a:p>
            <a:r>
              <a:rPr lang="en-US" b="1" dirty="0"/>
              <a:t>Understanding Protocols and Defending Against Cyber Threats</a:t>
            </a:r>
          </a:p>
          <a:p>
            <a:br>
              <a:rPr lang="en-US" dirty="0"/>
            </a:br>
            <a:endParaRPr lang="en-US" dirty="0"/>
          </a:p>
          <a:p>
            <a:r>
              <a:rPr lang="en-US" b="1" dirty="0"/>
              <a:t>Slide 2: Infrastructure Overview</a:t>
            </a:r>
          </a:p>
          <a:p>
            <a:r>
              <a:rPr lang="en-US" b="1" dirty="0"/>
              <a:t>Foundation:</a:t>
            </a:r>
            <a:r>
              <a:rPr lang="en-US" dirty="0"/>
              <a:t> Email relies on a three-part protocol system (</a:t>
            </a:r>
            <a:r>
              <a:rPr lang="en-US" b="1" dirty="0"/>
              <a:t>SMTP, IMAP, POP3</a:t>
            </a:r>
            <a:r>
              <a:rPr lang="en-US" dirty="0"/>
              <a:t>) to move messages globally.</a:t>
            </a:r>
          </a:p>
          <a:p>
            <a:r>
              <a:rPr lang="en-US" b="1" dirty="0"/>
              <a:t>Security Standard:</a:t>
            </a:r>
            <a:r>
              <a:rPr lang="en-US" dirty="0"/>
              <a:t> </a:t>
            </a:r>
            <a:r>
              <a:rPr lang="en-US" b="1" dirty="0"/>
              <a:t>S/MIME</a:t>
            </a:r>
            <a:r>
              <a:rPr lang="en-US" dirty="0"/>
              <a:t> is the gold standard for providing authentication, integrity, and encryption.</a:t>
            </a:r>
          </a:p>
          <a:p>
            <a:r>
              <a:rPr lang="en-US" b="1" dirty="0"/>
              <a:t>Port Security:</a:t>
            </a:r>
            <a:r>
              <a:rPr lang="en-US" dirty="0"/>
              <a:t> Modern infrastructure must use </a:t>
            </a:r>
            <a:r>
              <a:rPr lang="en-US" b="1" dirty="0"/>
              <a:t>Secure Ports</a:t>
            </a:r>
            <a:r>
              <a:rPr lang="en-US" dirty="0"/>
              <a:t> (e.g., 465, 993, 995) to protect data in transit.</a:t>
            </a:r>
          </a:p>
          <a:p>
            <a:br>
              <a:rPr lang="en-US" dirty="0"/>
            </a:br>
            <a:endParaRPr lang="en-US" dirty="0"/>
          </a:p>
          <a:p>
            <a:r>
              <a:rPr lang="en-US" b="1" dirty="0"/>
              <a:t>Slide 3: Threat Landscape Summary</a:t>
            </a:r>
          </a:p>
          <a:p>
            <a:r>
              <a:rPr lang="en-US" b="1" dirty="0"/>
              <a:t>Primary Vector:</a:t>
            </a:r>
            <a:r>
              <a:rPr lang="en-US" dirty="0"/>
              <a:t> Email remains the #1 entry point for cyberattacks.</a:t>
            </a:r>
          </a:p>
          <a:p>
            <a:r>
              <a:rPr lang="en-US" b="1" dirty="0"/>
              <a:t>Human Element:</a:t>
            </a:r>
            <a:r>
              <a:rPr lang="en-US" dirty="0"/>
              <a:t> </a:t>
            </a:r>
            <a:r>
              <a:rPr lang="en-US" b="1" dirty="0"/>
              <a:t>Social Engineering</a:t>
            </a:r>
            <a:r>
              <a:rPr lang="en-US" dirty="0"/>
              <a:t> (Phishing, Vishing, Spear Phishing) targets people rather than software vulnerabilities.</a:t>
            </a:r>
          </a:p>
          <a:p>
            <a:r>
              <a:rPr lang="en-US" b="1" dirty="0"/>
              <a:t>Technical Threats:</a:t>
            </a:r>
            <a:r>
              <a:rPr lang="en-US" dirty="0"/>
              <a:t> </a:t>
            </a:r>
            <a:r>
              <a:rPr lang="en-US" b="1" dirty="0"/>
              <a:t>Malware</a:t>
            </a:r>
            <a:r>
              <a:rPr lang="en-US" dirty="0"/>
              <a:t> and </a:t>
            </a:r>
            <a:r>
              <a:rPr lang="en-US" b="1" dirty="0"/>
              <a:t>URL Hiding</a:t>
            </a:r>
            <a:r>
              <a:rPr lang="en-US" dirty="0"/>
              <a:t> are used to bypass traditional filters and infect corporate networks.</a:t>
            </a:r>
          </a:p>
          <a:p>
            <a:endParaRPr lang="en-IN" dirty="0"/>
          </a:p>
        </p:txBody>
      </p:sp>
    </p:spTree>
    <p:extLst>
      <p:ext uri="{BB962C8B-B14F-4D97-AF65-F5344CB8AC3E}">
        <p14:creationId xmlns:p14="http://schemas.microsoft.com/office/powerpoint/2010/main" val="54187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5C824-1FE6-CF17-6E86-B6175147C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DDCF7-870B-932A-E88E-0DE54D6256F7}"/>
              </a:ext>
            </a:extLst>
          </p:cNvPr>
          <p:cNvSpPr>
            <a:spLocks noGrp="1"/>
          </p:cNvSpPr>
          <p:nvPr>
            <p:ph type="title"/>
          </p:nvPr>
        </p:nvSpPr>
        <p:spPr>
          <a:xfrm>
            <a:off x="88185" y="139094"/>
            <a:ext cx="11870933" cy="541944"/>
          </a:xfrm>
        </p:spPr>
        <p:txBody>
          <a:bodyPr>
            <a:normAutofit fontScale="90000"/>
          </a:bodyPr>
          <a:lstStyle/>
          <a:p>
            <a:r>
              <a:rPr lang="en-IN" dirty="0"/>
              <a:t>Encryption</a:t>
            </a:r>
          </a:p>
        </p:txBody>
      </p:sp>
      <p:sp>
        <p:nvSpPr>
          <p:cNvPr id="3" name="Content Placeholder 2">
            <a:extLst>
              <a:ext uri="{FF2B5EF4-FFF2-40B4-BE49-F238E27FC236}">
                <a16:creationId xmlns:a16="http://schemas.microsoft.com/office/drawing/2014/main" id="{27E03CCD-0840-8AEB-7559-9523C83DF25C}"/>
              </a:ext>
            </a:extLst>
          </p:cNvPr>
          <p:cNvSpPr>
            <a:spLocks noGrp="1"/>
          </p:cNvSpPr>
          <p:nvPr>
            <p:ph idx="1"/>
          </p:nvPr>
        </p:nvSpPr>
        <p:spPr>
          <a:xfrm>
            <a:off x="88185" y="873303"/>
            <a:ext cx="11870933" cy="5732980"/>
          </a:xfrm>
        </p:spPr>
        <p:txBody>
          <a:bodyPr/>
          <a:lstStyle/>
          <a:p>
            <a:r>
              <a:rPr lang="en-US" b="1" dirty="0"/>
              <a:t>Slide 4: Key Defensive Measures</a:t>
            </a:r>
          </a:p>
          <a:p>
            <a:r>
              <a:rPr lang="en-US" b="1" dirty="0"/>
              <a:t>Verify Identity:</a:t>
            </a:r>
            <a:r>
              <a:rPr lang="en-US" dirty="0"/>
              <a:t> Use S/MIME digital signatures to confirm sender authenticity.</a:t>
            </a:r>
          </a:p>
          <a:p>
            <a:r>
              <a:rPr lang="en-US" b="1" dirty="0"/>
              <a:t>Technical Controls:</a:t>
            </a:r>
            <a:r>
              <a:rPr lang="en-US" dirty="0"/>
              <a:t> Implement strong spam filters and block known malicious URLs.</a:t>
            </a:r>
          </a:p>
          <a:p>
            <a:r>
              <a:rPr lang="en-US" b="1" dirty="0"/>
              <a:t>Education:</a:t>
            </a:r>
            <a:r>
              <a:rPr lang="en-US" dirty="0"/>
              <a:t> Regular training to help users identify phishing and vishing attempts.</a:t>
            </a:r>
          </a:p>
          <a:p>
            <a:r>
              <a:rPr lang="en-US" b="1" dirty="0"/>
              <a:t>Encryption:</a:t>
            </a:r>
            <a:r>
              <a:rPr lang="en-US" dirty="0"/>
              <a:t> Always use SSL/TLS-enabled ports to prevent "Man-in-the-Middle" eavesdropping.</a:t>
            </a:r>
          </a:p>
          <a:p>
            <a:endParaRPr lang="en-IN" dirty="0"/>
          </a:p>
        </p:txBody>
      </p:sp>
    </p:spTree>
    <p:extLst>
      <p:ext uri="{BB962C8B-B14F-4D97-AF65-F5344CB8AC3E}">
        <p14:creationId xmlns:p14="http://schemas.microsoft.com/office/powerpoint/2010/main" val="2896072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599B6-81D5-E687-E614-6FCA43C07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105ED-40B4-CD64-D30A-FA19438B1153}"/>
              </a:ext>
            </a:extLst>
          </p:cNvPr>
          <p:cNvSpPr>
            <a:spLocks noGrp="1"/>
          </p:cNvSpPr>
          <p:nvPr>
            <p:ph type="title"/>
          </p:nvPr>
        </p:nvSpPr>
        <p:spPr>
          <a:xfrm>
            <a:off x="88185" y="139094"/>
            <a:ext cx="11870933" cy="541944"/>
          </a:xfrm>
        </p:spPr>
        <p:txBody>
          <a:bodyPr>
            <a:normAutofit fontScale="90000"/>
          </a:bodyPr>
          <a:lstStyle/>
          <a:p>
            <a:r>
              <a:rPr lang="en-IN" dirty="0"/>
              <a:t>Authentication</a:t>
            </a:r>
          </a:p>
        </p:txBody>
      </p:sp>
      <p:sp>
        <p:nvSpPr>
          <p:cNvPr id="3" name="Content Placeholder 2">
            <a:extLst>
              <a:ext uri="{FF2B5EF4-FFF2-40B4-BE49-F238E27FC236}">
                <a16:creationId xmlns:a16="http://schemas.microsoft.com/office/drawing/2014/main" id="{74583F44-6EFB-CFEC-6ED0-CC5712469EE1}"/>
              </a:ext>
            </a:extLst>
          </p:cNvPr>
          <p:cNvSpPr>
            <a:spLocks noGrp="1"/>
          </p:cNvSpPr>
          <p:nvPr>
            <p:ph idx="1"/>
          </p:nvPr>
        </p:nvSpPr>
        <p:spPr>
          <a:xfrm>
            <a:off x="88185" y="873303"/>
            <a:ext cx="11870933" cy="5732980"/>
          </a:xfrm>
        </p:spPr>
        <p:txBody>
          <a:bodyPr/>
          <a:lstStyle/>
          <a:p>
            <a:r>
              <a:rPr lang="en-US" b="1" dirty="0"/>
              <a:t>Slide 1: What is Email Authentication?</a:t>
            </a:r>
          </a:p>
          <a:p>
            <a:r>
              <a:rPr lang="en-US" b="1" dirty="0"/>
              <a:t>Purpose:</a:t>
            </a:r>
            <a:r>
              <a:rPr lang="en-US" dirty="0"/>
              <a:t> Prevents scammers from "spoofing" your domain (sending fake emails that look like they are from yourbusiness.com).</a:t>
            </a:r>
          </a:p>
          <a:p>
            <a:r>
              <a:rPr lang="en-US" b="1" dirty="0"/>
              <a:t>How it Works:</a:t>
            </a:r>
            <a:r>
              <a:rPr lang="en-US" dirty="0"/>
              <a:t> Allows the receiving server to verify that an email is legitimate.</a:t>
            </a:r>
          </a:p>
          <a:p>
            <a:r>
              <a:rPr lang="en-US" b="1" dirty="0"/>
              <a:t>Outcomes for Imposter Emails:</a:t>
            </a:r>
            <a:endParaRPr lang="en-US" dirty="0"/>
          </a:p>
          <a:p>
            <a:pPr lvl="1"/>
            <a:r>
              <a:rPr lang="en-US" b="1" dirty="0"/>
              <a:t>Blocked</a:t>
            </a:r>
            <a:r>
              <a:rPr lang="en-US" dirty="0"/>
              <a:t> entirely.</a:t>
            </a:r>
          </a:p>
          <a:p>
            <a:pPr lvl="1"/>
            <a:r>
              <a:rPr lang="en-US" dirty="0"/>
              <a:t>Sent to </a:t>
            </a:r>
            <a:r>
              <a:rPr lang="en-US" b="1" dirty="0"/>
              <a:t>Quarantine/Spam</a:t>
            </a:r>
            <a:r>
              <a:rPr lang="en-US" dirty="0"/>
              <a:t> folders.</a:t>
            </a:r>
          </a:p>
          <a:p>
            <a:pPr lvl="1"/>
            <a:r>
              <a:rPr lang="en-US" dirty="0"/>
              <a:t>Flagged with a warning to the recipient.</a:t>
            </a:r>
          </a:p>
          <a:p>
            <a:endParaRPr lang="en-IN" dirty="0"/>
          </a:p>
        </p:txBody>
      </p:sp>
    </p:spTree>
    <p:extLst>
      <p:ext uri="{BB962C8B-B14F-4D97-AF65-F5344CB8AC3E}">
        <p14:creationId xmlns:p14="http://schemas.microsoft.com/office/powerpoint/2010/main" val="3874937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CD0FF-9EA4-8F5A-EEB7-3D4B18A8F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8E77F-1A40-1366-8B52-794C32BFE42F}"/>
              </a:ext>
            </a:extLst>
          </p:cNvPr>
          <p:cNvSpPr>
            <a:spLocks noGrp="1"/>
          </p:cNvSpPr>
          <p:nvPr>
            <p:ph type="title"/>
          </p:nvPr>
        </p:nvSpPr>
        <p:spPr>
          <a:xfrm>
            <a:off x="88185" y="139094"/>
            <a:ext cx="11870933" cy="541944"/>
          </a:xfrm>
        </p:spPr>
        <p:txBody>
          <a:bodyPr>
            <a:normAutofit fontScale="90000"/>
          </a:bodyPr>
          <a:lstStyle/>
          <a:p>
            <a:r>
              <a:rPr lang="en-US" dirty="0"/>
              <a:t>Slide 2: The Three Pillars of Authentication</a:t>
            </a:r>
            <a:endParaRPr lang="en-IN" dirty="0"/>
          </a:p>
        </p:txBody>
      </p:sp>
      <p:graphicFrame>
        <p:nvGraphicFramePr>
          <p:cNvPr id="4" name="Content Placeholder 3">
            <a:extLst>
              <a:ext uri="{FF2B5EF4-FFF2-40B4-BE49-F238E27FC236}">
                <a16:creationId xmlns:a16="http://schemas.microsoft.com/office/drawing/2014/main" id="{E94C61E1-0025-474A-DCF4-B96E36FEEB15}"/>
              </a:ext>
            </a:extLst>
          </p:cNvPr>
          <p:cNvGraphicFramePr>
            <a:graphicFrameLocks noGrp="1"/>
          </p:cNvGraphicFramePr>
          <p:nvPr>
            <p:ph idx="1"/>
            <p:extLst>
              <p:ext uri="{D42A27DB-BD31-4B8C-83A1-F6EECF244321}">
                <p14:modId xmlns:p14="http://schemas.microsoft.com/office/powerpoint/2010/main" val="2753960485"/>
              </p:ext>
            </p:extLst>
          </p:nvPr>
        </p:nvGraphicFramePr>
        <p:xfrm>
          <a:off x="683776" y="1167963"/>
          <a:ext cx="10515600" cy="3149600"/>
        </p:xfrm>
        <a:graphic>
          <a:graphicData uri="http://schemas.openxmlformats.org/drawingml/2006/table">
            <a:tbl>
              <a:tblPr/>
              <a:tblGrid>
                <a:gridCol w="3505200">
                  <a:extLst>
                    <a:ext uri="{9D8B030D-6E8A-4147-A177-3AD203B41FA5}">
                      <a16:colId xmlns:a16="http://schemas.microsoft.com/office/drawing/2014/main" val="1452598906"/>
                    </a:ext>
                  </a:extLst>
                </a:gridCol>
                <a:gridCol w="3505200">
                  <a:extLst>
                    <a:ext uri="{9D8B030D-6E8A-4147-A177-3AD203B41FA5}">
                      <a16:colId xmlns:a16="http://schemas.microsoft.com/office/drawing/2014/main" val="372135710"/>
                    </a:ext>
                  </a:extLst>
                </a:gridCol>
                <a:gridCol w="3505200">
                  <a:extLst>
                    <a:ext uri="{9D8B030D-6E8A-4147-A177-3AD203B41FA5}">
                      <a16:colId xmlns:a16="http://schemas.microsoft.com/office/drawing/2014/main" val="113374107"/>
                    </a:ext>
                  </a:extLst>
                </a:gridCol>
              </a:tblGrid>
              <a:tr h="0">
                <a:tc>
                  <a:txBody>
                    <a:bodyPr/>
                    <a:lstStyle/>
                    <a:p>
                      <a:pPr rtl="0">
                        <a:buNone/>
                      </a:pPr>
                      <a:r>
                        <a:rPr lang="en-IN" b="1">
                          <a:solidFill>
                            <a:srgbClr val="1F1F1F"/>
                          </a:solidFill>
                          <a:effectLst/>
                          <a:latin typeface="Google Sans Text"/>
                        </a:rPr>
                        <a:t>Tool</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Full Name</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Primary Function</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53266403"/>
                  </a:ext>
                </a:extLst>
              </a:tr>
              <a:tr h="0">
                <a:tc>
                  <a:txBody>
                    <a:bodyPr/>
                    <a:lstStyle/>
                    <a:p>
                      <a:pPr rtl="0">
                        <a:buNone/>
                      </a:pPr>
                      <a:r>
                        <a:rPr lang="en-IN" b="1">
                          <a:solidFill>
                            <a:srgbClr val="1F1F1F"/>
                          </a:solidFill>
                          <a:effectLst/>
                          <a:latin typeface="Google Sans Text"/>
                        </a:rPr>
                        <a:t>SPF</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Sender Policy Framework</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An </a:t>
                      </a:r>
                      <a:r>
                        <a:rPr lang="en-US" b="1">
                          <a:solidFill>
                            <a:srgbClr val="1F1F1F"/>
                          </a:solidFill>
                          <a:effectLst/>
                          <a:latin typeface="Google Sans Text"/>
                        </a:rPr>
                        <a:t>Authorized List</a:t>
                      </a:r>
                      <a:r>
                        <a:rPr lang="en-US">
                          <a:solidFill>
                            <a:srgbClr val="1F1F1F"/>
                          </a:solidFill>
                          <a:effectLst/>
                          <a:latin typeface="Google Sans Text"/>
                        </a:rPr>
                        <a:t> of IP addresses/servers allowed to send mail for your domain.</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12693098"/>
                  </a:ext>
                </a:extLst>
              </a:tr>
              <a:tr h="0">
                <a:tc>
                  <a:txBody>
                    <a:bodyPr/>
                    <a:lstStyle/>
                    <a:p>
                      <a:pPr rtl="0">
                        <a:buNone/>
                      </a:pPr>
                      <a:r>
                        <a:rPr lang="en-IN" b="1">
                          <a:solidFill>
                            <a:srgbClr val="1F1F1F"/>
                          </a:solidFill>
                          <a:effectLst/>
                          <a:latin typeface="Google Sans Text"/>
                        </a:rPr>
                        <a:t>DKIM</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DomainKeys Identified Mail</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Adds a </a:t>
                      </a:r>
                      <a:r>
                        <a:rPr lang="en-US" b="1">
                          <a:solidFill>
                            <a:srgbClr val="1F1F1F"/>
                          </a:solidFill>
                          <a:effectLst/>
                          <a:latin typeface="Google Sans Text"/>
                        </a:rPr>
                        <a:t>Digital Signature</a:t>
                      </a:r>
                      <a:r>
                        <a:rPr lang="en-US">
                          <a:solidFill>
                            <a:srgbClr val="1F1F1F"/>
                          </a:solidFill>
                          <a:effectLst/>
                          <a:latin typeface="Google Sans Text"/>
                        </a:rPr>
                        <a:t> to verify the email hasn't been tampered with in transit.</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1838686"/>
                  </a:ext>
                </a:extLst>
              </a:tr>
              <a:tr h="0">
                <a:tc>
                  <a:txBody>
                    <a:bodyPr/>
                    <a:lstStyle/>
                    <a:p>
                      <a:pPr rtl="0">
                        <a:buNone/>
                      </a:pPr>
                      <a:r>
                        <a:rPr lang="en-IN" b="1">
                          <a:solidFill>
                            <a:srgbClr val="1F1F1F"/>
                          </a:solidFill>
                          <a:effectLst/>
                          <a:latin typeface="Google Sans Text"/>
                        </a:rPr>
                        <a:t>DMARC</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Domain-based Message Authentication...</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The </a:t>
                      </a:r>
                      <a:r>
                        <a:rPr lang="en-US" b="1" dirty="0">
                          <a:solidFill>
                            <a:srgbClr val="1F1F1F"/>
                          </a:solidFill>
                          <a:effectLst/>
                          <a:latin typeface="Google Sans Text"/>
                        </a:rPr>
                        <a:t>Instruction Manual</a:t>
                      </a:r>
                      <a:r>
                        <a:rPr lang="en-US" dirty="0">
                          <a:solidFill>
                            <a:srgbClr val="1F1F1F"/>
                          </a:solidFill>
                          <a:effectLst/>
                          <a:latin typeface="Google Sans Text"/>
                        </a:rPr>
                        <a:t> that tells servers what to do if SPF or DKIM fails (Reject, Quarantine, or None).</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18932440"/>
                  </a:ext>
                </a:extLst>
              </a:tr>
            </a:tbl>
          </a:graphicData>
        </a:graphic>
      </p:graphicFrame>
      <p:sp>
        <p:nvSpPr>
          <p:cNvPr id="5" name="TextBox 4">
            <a:extLst>
              <a:ext uri="{FF2B5EF4-FFF2-40B4-BE49-F238E27FC236}">
                <a16:creationId xmlns:a16="http://schemas.microsoft.com/office/drawing/2014/main" id="{70D8AAB7-8B6F-9F27-73AC-7B6D6BA0CAA3}"/>
              </a:ext>
            </a:extLst>
          </p:cNvPr>
          <p:cNvSpPr txBox="1"/>
          <p:nvPr/>
        </p:nvSpPr>
        <p:spPr>
          <a:xfrm>
            <a:off x="986320" y="4900773"/>
            <a:ext cx="10608994" cy="369332"/>
          </a:xfrm>
          <a:prstGeom prst="rect">
            <a:avLst/>
          </a:prstGeom>
          <a:noFill/>
        </p:spPr>
        <p:txBody>
          <a:bodyPr wrap="none" rtlCol="0">
            <a:spAutoFit/>
          </a:bodyPr>
          <a:lstStyle/>
          <a:p>
            <a:r>
              <a:rPr lang="en-US" b="1" dirty="0"/>
              <a:t>Key Note:</a:t>
            </a:r>
            <a:r>
              <a:rPr lang="en-US" dirty="0"/>
              <a:t> DMARC ensures the "behind the scenes" address matches the "From" address the user actually sees.</a:t>
            </a:r>
            <a:endParaRPr lang="en-IN" dirty="0"/>
          </a:p>
        </p:txBody>
      </p:sp>
    </p:spTree>
    <p:extLst>
      <p:ext uri="{BB962C8B-B14F-4D97-AF65-F5344CB8AC3E}">
        <p14:creationId xmlns:p14="http://schemas.microsoft.com/office/powerpoint/2010/main" val="4287349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87A72-84C9-7B0F-72D9-4DC90D80E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BA673-B399-7FEB-8FEC-CCF87EAD2CA8}"/>
              </a:ext>
            </a:extLst>
          </p:cNvPr>
          <p:cNvSpPr>
            <a:spLocks noGrp="1"/>
          </p:cNvSpPr>
          <p:nvPr>
            <p:ph type="title"/>
          </p:nvPr>
        </p:nvSpPr>
        <p:spPr>
          <a:xfrm>
            <a:off x="88185" y="139094"/>
            <a:ext cx="11870933" cy="541944"/>
          </a:xfrm>
        </p:spPr>
        <p:txBody>
          <a:bodyPr>
            <a:normAutofit fontScale="90000"/>
          </a:bodyPr>
          <a:lstStyle/>
          <a:p>
            <a:r>
              <a:rPr lang="en-IN" dirty="0"/>
              <a:t>Authentication</a:t>
            </a:r>
          </a:p>
        </p:txBody>
      </p:sp>
      <p:sp>
        <p:nvSpPr>
          <p:cNvPr id="3" name="Content Placeholder 2">
            <a:extLst>
              <a:ext uri="{FF2B5EF4-FFF2-40B4-BE49-F238E27FC236}">
                <a16:creationId xmlns:a16="http://schemas.microsoft.com/office/drawing/2014/main" id="{08711C8D-B902-3F70-C87C-A6A980EC9A59}"/>
              </a:ext>
            </a:extLst>
          </p:cNvPr>
          <p:cNvSpPr>
            <a:spLocks noGrp="1"/>
          </p:cNvSpPr>
          <p:nvPr>
            <p:ph idx="1"/>
          </p:nvPr>
        </p:nvSpPr>
        <p:spPr>
          <a:xfrm>
            <a:off x="88185" y="873303"/>
            <a:ext cx="11870933" cy="5732980"/>
          </a:xfrm>
        </p:spPr>
        <p:txBody>
          <a:bodyPr/>
          <a:lstStyle/>
          <a:p>
            <a:r>
              <a:rPr lang="en-US" b="1" dirty="0"/>
              <a:t>Slide 3: Best Practices &amp; Implementation</a:t>
            </a:r>
          </a:p>
          <a:p>
            <a:r>
              <a:rPr lang="en-US" b="1" dirty="0"/>
              <a:t>Configuration is Critical:</a:t>
            </a:r>
            <a:r>
              <a:rPr lang="en-US" dirty="0"/>
              <a:t> Incorrect setup can block legitimate business emails.</a:t>
            </a:r>
          </a:p>
          <a:p>
            <a:r>
              <a:rPr lang="en-US" b="1" dirty="0"/>
              <a:t>Provider Support:</a:t>
            </a:r>
            <a:r>
              <a:rPr lang="en-US" dirty="0"/>
              <a:t> Ensure your web host or email provider (e.g., Google Workspace, Microsoft 365) supports and has configured these records.</a:t>
            </a:r>
          </a:p>
          <a:p>
            <a:r>
              <a:rPr lang="en-US" b="1" dirty="0"/>
              <a:t>Reporting:</a:t>
            </a:r>
            <a:r>
              <a:rPr lang="en-US" dirty="0"/>
              <a:t> Use DMARC reports to monitor who is sending email on your behalf and identify potential attacks.</a:t>
            </a:r>
          </a:p>
          <a:p>
            <a:r>
              <a:rPr lang="en-US" b="1" dirty="0"/>
              <a:t>Check Your Status:</a:t>
            </a:r>
            <a:r>
              <a:rPr lang="en-US" dirty="0"/>
              <a:t> Periodically use "Domain Health" tools to verify your SPF, DKIM, and DMARC records are active.</a:t>
            </a:r>
          </a:p>
          <a:p>
            <a:endParaRPr lang="en-IN" dirty="0"/>
          </a:p>
        </p:txBody>
      </p:sp>
    </p:spTree>
    <p:extLst>
      <p:ext uri="{BB962C8B-B14F-4D97-AF65-F5344CB8AC3E}">
        <p14:creationId xmlns:p14="http://schemas.microsoft.com/office/powerpoint/2010/main" val="1234396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C5EA1-9293-9E8F-E469-3156962E9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6B37E-6DBB-4B5F-1182-729EBC8132A1}"/>
              </a:ext>
            </a:extLst>
          </p:cNvPr>
          <p:cNvSpPr>
            <a:spLocks noGrp="1"/>
          </p:cNvSpPr>
          <p:nvPr>
            <p:ph type="title"/>
          </p:nvPr>
        </p:nvSpPr>
        <p:spPr>
          <a:xfrm>
            <a:off x="88185" y="139094"/>
            <a:ext cx="11870933" cy="541944"/>
          </a:xfrm>
        </p:spPr>
        <p:txBody>
          <a:bodyPr>
            <a:normAutofit fontScale="90000"/>
          </a:bodyPr>
          <a:lstStyle/>
          <a:p>
            <a:r>
              <a:rPr lang="en-US" dirty="0"/>
              <a:t>Response Plan: What to Do if Spoofed</a:t>
            </a:r>
            <a:endParaRPr lang="en-IN" dirty="0"/>
          </a:p>
        </p:txBody>
      </p:sp>
      <p:sp>
        <p:nvSpPr>
          <p:cNvPr id="3" name="Content Placeholder 2">
            <a:extLst>
              <a:ext uri="{FF2B5EF4-FFF2-40B4-BE49-F238E27FC236}">
                <a16:creationId xmlns:a16="http://schemas.microsoft.com/office/drawing/2014/main" id="{AB35A16C-837B-02A9-2733-566FECD209D5}"/>
              </a:ext>
            </a:extLst>
          </p:cNvPr>
          <p:cNvSpPr>
            <a:spLocks noGrp="1"/>
          </p:cNvSpPr>
          <p:nvPr>
            <p:ph idx="1"/>
          </p:nvPr>
        </p:nvSpPr>
        <p:spPr>
          <a:xfrm>
            <a:off x="88185" y="873303"/>
            <a:ext cx="11870933" cy="5732980"/>
          </a:xfrm>
        </p:spPr>
        <p:txBody>
          <a:bodyPr>
            <a:normAutofit fontScale="47500" lnSpcReduction="20000"/>
          </a:bodyPr>
          <a:lstStyle/>
          <a:p>
            <a:r>
              <a:rPr lang="en-US" b="1" dirty="0"/>
              <a:t>1. Official Reporting</a:t>
            </a:r>
          </a:p>
          <a:p>
            <a:r>
              <a:rPr lang="en-US" b="1" dirty="0"/>
              <a:t>Federal Agencies:</a:t>
            </a:r>
            <a:r>
              <a:rPr lang="en-US" dirty="0"/>
              <a:t> File a report with the </a:t>
            </a:r>
            <a:r>
              <a:rPr lang="en-US" b="1" dirty="0"/>
              <a:t>FBI (IC3.gov)</a:t>
            </a:r>
            <a:r>
              <a:rPr lang="en-US" dirty="0"/>
              <a:t> and the </a:t>
            </a:r>
            <a:r>
              <a:rPr lang="en-US" b="1" dirty="0"/>
              <a:t>FTC (FTC.gov/Complaint)</a:t>
            </a:r>
            <a:r>
              <a:rPr lang="en-US" dirty="0"/>
              <a:t>.</a:t>
            </a:r>
          </a:p>
          <a:p>
            <a:r>
              <a:rPr lang="en-US" b="1" dirty="0"/>
              <a:t>Specialized Email Reporting:</a:t>
            </a:r>
            <a:endParaRPr lang="en-US" dirty="0"/>
          </a:p>
          <a:p>
            <a:pPr lvl="1"/>
            <a:r>
              <a:rPr lang="en-US" dirty="0"/>
              <a:t>Forward scam emails to </a:t>
            </a:r>
            <a:r>
              <a:rPr lang="en-US" b="1" dirty="0"/>
              <a:t>spam@uce.gov</a:t>
            </a:r>
            <a:r>
              <a:rPr lang="en-US" dirty="0"/>
              <a:t> (FTC).</a:t>
            </a:r>
          </a:p>
          <a:p>
            <a:pPr lvl="1"/>
            <a:r>
              <a:rPr lang="en-US" dirty="0"/>
              <a:t>Forward to </a:t>
            </a:r>
            <a:r>
              <a:rPr lang="en-US" b="1" dirty="0"/>
              <a:t>reportphishing@apwg.org</a:t>
            </a:r>
            <a:r>
              <a:rPr lang="en-US" dirty="0"/>
              <a:t> (Anti-Phishing Working Group).</a:t>
            </a:r>
          </a:p>
          <a:p>
            <a:r>
              <a:rPr lang="en-US" b="1" dirty="0"/>
              <a:t>Law Enforcement:</a:t>
            </a:r>
            <a:r>
              <a:rPr lang="en-US" dirty="0"/>
              <a:t> Notify local police if financial fraud has occurred.</a:t>
            </a:r>
          </a:p>
          <a:p>
            <a:r>
              <a:rPr lang="en-US" b="1" dirty="0"/>
              <a:t>2. Customer Notification</a:t>
            </a:r>
          </a:p>
          <a:p>
            <a:r>
              <a:rPr lang="en-US" b="1" dirty="0"/>
              <a:t>Act Quickly:</a:t>
            </a:r>
            <a:r>
              <a:rPr lang="en-US" dirty="0"/>
              <a:t> Alert customers via social media, your website, or direct mail/email.</a:t>
            </a:r>
          </a:p>
          <a:p>
            <a:r>
              <a:rPr lang="en-US" b="1" dirty="0"/>
              <a:t>Safe Communication:</a:t>
            </a:r>
            <a:r>
              <a:rPr lang="en-US" dirty="0"/>
              <a:t> If notifying by email, </a:t>
            </a:r>
            <a:r>
              <a:rPr lang="en-US" b="1" dirty="0"/>
              <a:t>do not include hyperlinks</a:t>
            </a:r>
            <a:r>
              <a:rPr lang="en-US" dirty="0"/>
              <a:t>.</a:t>
            </a:r>
          </a:p>
          <a:p>
            <a:pPr lvl="1"/>
            <a:r>
              <a:rPr lang="en-US" i="1" dirty="0"/>
              <a:t>Why?</a:t>
            </a:r>
            <a:r>
              <a:rPr lang="en-US" dirty="0"/>
              <a:t> Links in a security alert can look like a phishing scam themselves.</a:t>
            </a:r>
          </a:p>
          <a:p>
            <a:r>
              <a:rPr lang="en-US" b="1" dirty="0"/>
              <a:t>Provide Guidance:</a:t>
            </a:r>
            <a:r>
              <a:rPr lang="en-US" dirty="0"/>
              <a:t> * Remind customers that your business will </a:t>
            </a:r>
            <a:r>
              <a:rPr lang="en-US" b="1" dirty="0"/>
              <a:t>never</a:t>
            </a:r>
            <a:r>
              <a:rPr lang="en-US" dirty="0"/>
              <a:t> ask for passwords or SSNs via text/email.</a:t>
            </a:r>
          </a:p>
          <a:p>
            <a:pPr lvl="1"/>
            <a:r>
              <a:rPr lang="en-US" dirty="0"/>
              <a:t>Direct victims of data theft to </a:t>
            </a:r>
            <a:r>
              <a:rPr lang="en-US" b="1" dirty="0"/>
              <a:t>IdentityTheft.gov</a:t>
            </a:r>
            <a:r>
              <a:rPr lang="en-US" dirty="0"/>
              <a:t> for a recovery plan.</a:t>
            </a:r>
          </a:p>
          <a:p>
            <a:r>
              <a:rPr lang="en-US" b="1" dirty="0"/>
              <a:t>3. Internal &amp; Staff Action</a:t>
            </a:r>
          </a:p>
          <a:p>
            <a:r>
              <a:rPr lang="en-US" b="1" dirty="0"/>
              <a:t>Security Audit:</a:t>
            </a:r>
            <a:r>
              <a:rPr lang="en-US" dirty="0"/>
              <a:t> Review SPF/DKIM/DMARC logs to identify how the spoofing occurred.</a:t>
            </a:r>
          </a:p>
          <a:p>
            <a:r>
              <a:rPr lang="en-US" b="1" dirty="0"/>
              <a:t>Staff Training:</a:t>
            </a:r>
            <a:r>
              <a:rPr lang="en-US" dirty="0"/>
              <a:t> Use the real-world example as a "teachable moment" for employees.</a:t>
            </a:r>
          </a:p>
          <a:p>
            <a:r>
              <a:rPr lang="en-US" b="1" dirty="0"/>
              <a:t>Update Protocols:</a:t>
            </a:r>
            <a:r>
              <a:rPr lang="en-US" dirty="0"/>
              <a:t> Refine internal security policies to prevent future vulnerabilities.</a:t>
            </a:r>
            <a:br>
              <a:rPr lang="en-US" dirty="0"/>
            </a:br>
            <a:endParaRPr lang="en-US" dirty="0"/>
          </a:p>
          <a:p>
            <a:r>
              <a:rPr lang="en-US" b="1" dirty="0"/>
              <a:t>Summary Checklist for PPT</a:t>
            </a:r>
          </a:p>
          <a:p>
            <a:r>
              <a:rPr lang="en-US" dirty="0"/>
              <a:t>[ ] </a:t>
            </a:r>
            <a:r>
              <a:rPr lang="en-US" b="1" dirty="0"/>
              <a:t>Report:</a:t>
            </a:r>
            <a:r>
              <a:rPr lang="en-US" dirty="0"/>
              <a:t> FBI, FTC, and APWG.</a:t>
            </a:r>
          </a:p>
          <a:p>
            <a:r>
              <a:rPr lang="en-US" dirty="0"/>
              <a:t>[ ] </a:t>
            </a:r>
            <a:r>
              <a:rPr lang="en-US" b="1" dirty="0"/>
              <a:t>Alert:</a:t>
            </a:r>
            <a:r>
              <a:rPr lang="en-US" dirty="0"/>
              <a:t> Notify customers immediately (No links!).</a:t>
            </a:r>
          </a:p>
          <a:p>
            <a:r>
              <a:rPr lang="en-US" dirty="0"/>
              <a:t>[ ] </a:t>
            </a:r>
            <a:r>
              <a:rPr lang="en-US" b="1" dirty="0"/>
              <a:t>Advise:</a:t>
            </a:r>
            <a:r>
              <a:rPr lang="en-US" dirty="0"/>
              <a:t> Direct victims to IdentityTheft.gov.</a:t>
            </a:r>
          </a:p>
          <a:p>
            <a:r>
              <a:rPr lang="en-US" dirty="0"/>
              <a:t>[ ] </a:t>
            </a:r>
            <a:r>
              <a:rPr lang="en-US" b="1" dirty="0"/>
              <a:t>Train:</a:t>
            </a:r>
            <a:r>
              <a:rPr lang="en-US" dirty="0"/>
              <a:t> Conduct staff cybersecurity awareness sessions.</a:t>
            </a:r>
          </a:p>
        </p:txBody>
      </p:sp>
    </p:spTree>
    <p:extLst>
      <p:ext uri="{BB962C8B-B14F-4D97-AF65-F5344CB8AC3E}">
        <p14:creationId xmlns:p14="http://schemas.microsoft.com/office/powerpoint/2010/main" val="1364457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B1EEB-E0DD-5B09-DBF1-72682C6A35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E0F4F-40DE-3189-9EE9-B5F6E4EAC0CB}"/>
              </a:ext>
            </a:extLst>
          </p:cNvPr>
          <p:cNvSpPr>
            <a:spLocks noGrp="1"/>
          </p:cNvSpPr>
          <p:nvPr>
            <p:ph idx="1"/>
          </p:nvPr>
        </p:nvSpPr>
        <p:spPr>
          <a:xfrm>
            <a:off x="88185" y="154112"/>
            <a:ext cx="11870933" cy="6452171"/>
          </a:xfrm>
        </p:spPr>
        <p:txBody>
          <a:bodyPr>
            <a:normAutofit fontScale="47500" lnSpcReduction="20000"/>
          </a:bodyPr>
          <a:lstStyle/>
          <a:p>
            <a:pPr marL="0" indent="0">
              <a:buNone/>
            </a:pPr>
            <a:r>
              <a:rPr lang="en-US" sz="3800" b="1" dirty="0">
                <a:solidFill>
                  <a:srgbClr val="FF0000"/>
                </a:solidFill>
              </a:rPr>
              <a:t>Scenario: The "Account Termination" Alert</a:t>
            </a:r>
          </a:p>
          <a:p>
            <a:pPr marL="0" indent="0">
              <a:buNone/>
            </a:pPr>
            <a:r>
              <a:rPr lang="en-US" sz="2500" b="1" dirty="0"/>
              <a:t>The Situation:</a:t>
            </a:r>
            <a:r>
              <a:rPr lang="en-US" sz="2500" dirty="0"/>
              <a:t> You receive an urgent email from the company "Help Desk" stating that inactive accounts are being deleted to save server space. To keep your account active, the email asks you to reply with the following details by Friday:</a:t>
            </a:r>
          </a:p>
          <a:p>
            <a:pPr>
              <a:lnSpc>
                <a:spcPct val="120000"/>
              </a:lnSpc>
              <a:spcBef>
                <a:spcPts val="400"/>
              </a:spcBef>
            </a:pPr>
            <a:r>
              <a:rPr lang="en-US" sz="2500" dirty="0"/>
              <a:t>Full Name</a:t>
            </a:r>
          </a:p>
          <a:p>
            <a:pPr>
              <a:lnSpc>
                <a:spcPct val="120000"/>
              </a:lnSpc>
              <a:spcBef>
                <a:spcPts val="400"/>
              </a:spcBef>
            </a:pPr>
            <a:r>
              <a:rPr lang="en-US" sz="2500" dirty="0"/>
              <a:t>Email ID &amp; Alternate Email ID</a:t>
            </a:r>
          </a:p>
          <a:p>
            <a:pPr>
              <a:lnSpc>
                <a:spcPct val="120000"/>
              </a:lnSpc>
              <a:spcBef>
                <a:spcPts val="400"/>
              </a:spcBef>
            </a:pPr>
            <a:r>
              <a:rPr lang="en-US" sz="2500" b="1" dirty="0"/>
              <a:t>Account Password</a:t>
            </a:r>
            <a:endParaRPr lang="en-US" sz="2500" dirty="0"/>
          </a:p>
          <a:p>
            <a:pPr>
              <a:lnSpc>
                <a:spcPct val="120000"/>
              </a:lnSpc>
              <a:spcBef>
                <a:spcPts val="400"/>
              </a:spcBef>
            </a:pPr>
            <a:r>
              <a:rPr lang="en-US" sz="2500" dirty="0"/>
              <a:t>Date of Birth</a:t>
            </a:r>
          </a:p>
          <a:p>
            <a:pPr>
              <a:lnSpc>
                <a:spcPct val="120000"/>
              </a:lnSpc>
              <a:spcBef>
                <a:spcPts val="400"/>
              </a:spcBef>
            </a:pPr>
            <a:r>
              <a:rPr lang="en-US" sz="2500" b="1" dirty="0"/>
              <a:t>Question:</a:t>
            </a:r>
            <a:r>
              <a:rPr lang="en-US" sz="2500" dirty="0"/>
              <a:t> As an employee, what is the most appropriate action to take?</a:t>
            </a:r>
          </a:p>
          <a:p>
            <a:pPr marL="0" indent="0">
              <a:buNone/>
            </a:pPr>
            <a:r>
              <a:rPr lang="en-US" b="1" dirty="0"/>
              <a:t>Options</a:t>
            </a:r>
          </a:p>
          <a:p>
            <a:r>
              <a:rPr lang="en-US" b="1" dirty="0"/>
              <a:t>A)</a:t>
            </a:r>
            <a:r>
              <a:rPr lang="en-US" dirty="0"/>
              <a:t> Reply immediately with the requested details to ensure your work is not interrupted.</a:t>
            </a:r>
          </a:p>
          <a:p>
            <a:r>
              <a:rPr lang="en-US" b="1" dirty="0"/>
              <a:t>B)</a:t>
            </a:r>
            <a:r>
              <a:rPr lang="en-US" dirty="0"/>
              <a:t> Send everything except the password, as that is the only private part.</a:t>
            </a:r>
          </a:p>
          <a:p>
            <a:r>
              <a:rPr lang="en-US" b="1" dirty="0"/>
              <a:t>C)</a:t>
            </a:r>
            <a:r>
              <a:rPr lang="en-US" dirty="0"/>
              <a:t> Delete the email and ignore it, assuming the Help Desk will fix it later.</a:t>
            </a:r>
          </a:p>
          <a:p>
            <a:r>
              <a:rPr lang="en-US" b="1" dirty="0"/>
              <a:t>D)</a:t>
            </a:r>
            <a:r>
              <a:rPr lang="en-US" dirty="0"/>
              <a:t> </a:t>
            </a:r>
            <a:r>
              <a:rPr lang="en-US" b="1" dirty="0"/>
              <a:t>Do not reply. Report the email to the actual IT Security team via a verified channel.</a:t>
            </a:r>
          </a:p>
          <a:p>
            <a:pPr marL="0" indent="0">
              <a:buNone/>
            </a:pPr>
            <a:endParaRPr lang="en-IN" b="1" dirty="0"/>
          </a:p>
          <a:p>
            <a:r>
              <a:rPr lang="en-US" b="1" dirty="0"/>
              <a:t>Correct Answer: D</a:t>
            </a:r>
          </a:p>
          <a:p>
            <a:r>
              <a:rPr lang="en-US" b="1" dirty="0"/>
              <a:t>Justification (Why this is Phishing):</a:t>
            </a:r>
          </a:p>
          <a:p>
            <a:r>
              <a:rPr lang="en-US" b="1" dirty="0"/>
              <a:t>Sense of Urgency:</a:t>
            </a:r>
            <a:r>
              <a:rPr lang="en-US" dirty="0"/>
              <a:t> Scammers use threats (e.g., "account will be terminated by end of week") to make you act quickly without thinking.</a:t>
            </a:r>
          </a:p>
          <a:p>
            <a:r>
              <a:rPr lang="en-US" b="1" dirty="0"/>
              <a:t>Request for Credentials:</a:t>
            </a:r>
            <a:r>
              <a:rPr lang="en-US" dirty="0"/>
              <a:t> </a:t>
            </a:r>
            <a:r>
              <a:rPr lang="en-US" b="1" dirty="0"/>
              <a:t>Legitimate IT Departments will NEVER ask for your password via email.</a:t>
            </a:r>
            <a:r>
              <a:rPr lang="en-US" dirty="0"/>
              <a:t> They already have administrative access to your account.</a:t>
            </a:r>
          </a:p>
          <a:p>
            <a:r>
              <a:rPr lang="en-US" b="1" dirty="0"/>
              <a:t>Personal Data Harvesting:</a:t>
            </a:r>
            <a:r>
              <a:rPr lang="en-US" dirty="0"/>
              <a:t> Asking for Date of Birth and alternate emails is a tactic used to bypass security questions on other websites (Identity Theft).</a:t>
            </a:r>
          </a:p>
          <a:p>
            <a:r>
              <a:rPr lang="en-US" b="1" dirty="0"/>
              <a:t>Suspicious Logic:</a:t>
            </a:r>
            <a:r>
              <a:rPr lang="en-US" dirty="0"/>
              <a:t> Professional organizations do not delete active employee accounts to "make space" for new users.</a:t>
            </a:r>
            <a:br>
              <a:rPr lang="en-US" dirty="0"/>
            </a:br>
            <a:endParaRPr lang="en-US" dirty="0"/>
          </a:p>
          <a:p>
            <a:r>
              <a:rPr lang="en-US" b="1" dirty="0"/>
              <a:t>Red Flags Checklist</a:t>
            </a:r>
          </a:p>
          <a:p>
            <a:r>
              <a:rPr lang="en-US" dirty="0"/>
              <a:t>[ ] </a:t>
            </a:r>
            <a:r>
              <a:rPr lang="en-US" b="1" dirty="0"/>
              <a:t>The Ask:</a:t>
            </a:r>
            <a:r>
              <a:rPr lang="en-US" dirty="0"/>
              <a:t> Asking for a password or sensitive PII (Personally Identifiable Information).</a:t>
            </a:r>
          </a:p>
          <a:p>
            <a:r>
              <a:rPr lang="en-US" dirty="0"/>
              <a:t>[ ] </a:t>
            </a:r>
            <a:r>
              <a:rPr lang="en-US" b="1" dirty="0"/>
              <a:t>The Threat:</a:t>
            </a:r>
            <a:r>
              <a:rPr lang="en-US" dirty="0"/>
              <a:t> High-pressure language or "termination" warnings.</a:t>
            </a:r>
          </a:p>
          <a:p>
            <a:r>
              <a:rPr lang="en-US" dirty="0"/>
              <a:t>[ ] </a:t>
            </a:r>
            <a:r>
              <a:rPr lang="en-US" b="1" dirty="0"/>
              <a:t>The Channel:</a:t>
            </a:r>
            <a:r>
              <a:rPr lang="en-US" dirty="0"/>
              <a:t> Using email to collect data that should be managed through a secure portal.</a:t>
            </a:r>
          </a:p>
        </p:txBody>
      </p:sp>
    </p:spTree>
    <p:extLst>
      <p:ext uri="{BB962C8B-B14F-4D97-AF65-F5344CB8AC3E}">
        <p14:creationId xmlns:p14="http://schemas.microsoft.com/office/powerpoint/2010/main" val="1790846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C53AD-F773-1009-928B-165882CD6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52083-1E2D-72E1-2BE1-3C44DBC8725A}"/>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8BF37643-7270-D2C6-0751-0E6729F2D2B1}"/>
              </a:ext>
            </a:extLst>
          </p:cNvPr>
          <p:cNvSpPr>
            <a:spLocks noGrp="1"/>
          </p:cNvSpPr>
          <p:nvPr>
            <p:ph idx="1"/>
          </p:nvPr>
        </p:nvSpPr>
        <p:spPr>
          <a:xfrm>
            <a:off x="88185" y="873303"/>
            <a:ext cx="11870933" cy="5732980"/>
          </a:xfrm>
        </p:spPr>
        <p:txBody>
          <a:bodyPr/>
          <a:lstStyle/>
          <a:p>
            <a:r>
              <a:rPr lang="en-US" b="1" dirty="0"/>
              <a:t>Slide 1: Encrypting Email for Secure Transmission</a:t>
            </a:r>
          </a:p>
          <a:p>
            <a:r>
              <a:rPr lang="en-US" b="1" dirty="0"/>
              <a:t>Q: How do we ensure email content remains private?</a:t>
            </a:r>
            <a:endParaRPr lang="en-US" dirty="0"/>
          </a:p>
          <a:p>
            <a:r>
              <a:rPr lang="en-US" b="1" dirty="0"/>
              <a:t>The Method:</a:t>
            </a:r>
            <a:r>
              <a:rPr lang="en-US" dirty="0"/>
              <a:t> Use </a:t>
            </a:r>
            <a:r>
              <a:rPr lang="en-US" b="1" dirty="0"/>
              <a:t>End-to-End Encryption (E2EE)</a:t>
            </a:r>
            <a:r>
              <a:rPr lang="en-US" dirty="0"/>
              <a:t> and </a:t>
            </a:r>
            <a:r>
              <a:rPr lang="en-US" b="1" dirty="0"/>
              <a:t>S/MIME</a:t>
            </a:r>
            <a:r>
              <a:rPr lang="en-US" dirty="0"/>
              <a:t> protocols.</a:t>
            </a:r>
          </a:p>
          <a:p>
            <a:r>
              <a:rPr lang="en-US" b="1" dirty="0"/>
              <a:t>The Process:</a:t>
            </a:r>
            <a:r>
              <a:rPr lang="en-US" dirty="0"/>
              <a:t> * A </a:t>
            </a:r>
            <a:r>
              <a:rPr lang="en-US" b="1" dirty="0"/>
              <a:t>Cipher Algorithm</a:t>
            </a:r>
            <a:r>
              <a:rPr lang="en-US" dirty="0"/>
              <a:t> (like AES-256) scrambles the data into unreadable "ciphertext."</a:t>
            </a:r>
          </a:p>
          <a:p>
            <a:pPr lvl="1"/>
            <a:r>
              <a:rPr lang="en-US" dirty="0"/>
              <a:t>Only the recipient with the correct </a:t>
            </a:r>
            <a:r>
              <a:rPr lang="en-US" b="1" dirty="0"/>
              <a:t>decryption key</a:t>
            </a:r>
            <a:r>
              <a:rPr lang="en-US" dirty="0"/>
              <a:t> can unlock and read the message.</a:t>
            </a:r>
          </a:p>
          <a:p>
            <a:r>
              <a:rPr lang="en-US" b="1" dirty="0"/>
              <a:t>What it Protects:</a:t>
            </a:r>
            <a:r>
              <a:rPr lang="en-US" dirty="0"/>
              <a:t> * Corporate intellectual property.</a:t>
            </a:r>
          </a:p>
          <a:p>
            <a:pPr lvl="1"/>
            <a:r>
              <a:rPr lang="en-US" dirty="0"/>
              <a:t>Credit card and financial data.</a:t>
            </a:r>
          </a:p>
          <a:p>
            <a:pPr lvl="1"/>
            <a:r>
              <a:rPr lang="en-US" dirty="0"/>
              <a:t>Personally Identifiable Information (PII).</a:t>
            </a:r>
          </a:p>
          <a:p>
            <a:endParaRPr lang="en-IN" dirty="0"/>
          </a:p>
        </p:txBody>
      </p:sp>
    </p:spTree>
    <p:extLst>
      <p:ext uri="{BB962C8B-B14F-4D97-AF65-F5344CB8AC3E}">
        <p14:creationId xmlns:p14="http://schemas.microsoft.com/office/powerpoint/2010/main" val="883902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927F-C2E5-06C9-FC40-37149DD1D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79949-C4B4-7AD0-17BC-06786F70A567}"/>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8D56B33-041B-E7E1-17A4-20B6C287A3A5}"/>
              </a:ext>
            </a:extLst>
          </p:cNvPr>
          <p:cNvSpPr>
            <a:spLocks noGrp="1"/>
          </p:cNvSpPr>
          <p:nvPr>
            <p:ph idx="1"/>
          </p:nvPr>
        </p:nvSpPr>
        <p:spPr>
          <a:xfrm>
            <a:off x="88185" y="873303"/>
            <a:ext cx="11870933" cy="5732980"/>
          </a:xfrm>
        </p:spPr>
        <p:txBody>
          <a:bodyPr/>
          <a:lstStyle/>
          <a:p>
            <a:r>
              <a:rPr lang="en-US" b="1" dirty="0"/>
              <a:t>Slide 2: Tracing a Spoofed Email</a:t>
            </a:r>
          </a:p>
          <a:p>
            <a:r>
              <a:rPr lang="en-US" b="1" dirty="0"/>
              <a:t>Q: Can you trace an email if the IP address is spoofed?</a:t>
            </a:r>
            <a:endParaRPr lang="en-US" dirty="0"/>
          </a:p>
          <a:p>
            <a:r>
              <a:rPr lang="en-US" b="1" dirty="0"/>
              <a:t>The Challenge:</a:t>
            </a:r>
            <a:r>
              <a:rPr lang="en-US" dirty="0"/>
              <a:t> Scammers hide behind fake IP addresses or "open relays" to mask their location.</a:t>
            </a:r>
          </a:p>
          <a:p>
            <a:r>
              <a:rPr lang="en-US" b="1" dirty="0"/>
              <a:t>The Solution (Technical Tracing):</a:t>
            </a:r>
            <a:endParaRPr lang="en-US" dirty="0"/>
          </a:p>
          <a:p>
            <a:pPr lvl="1"/>
            <a:r>
              <a:rPr lang="en-US" b="1" dirty="0"/>
              <a:t>Analyze Email Headers:</a:t>
            </a:r>
            <a:r>
              <a:rPr lang="en-US" dirty="0"/>
              <a:t> Examine the "Received" fields to see the path the email took across different servers.</a:t>
            </a:r>
          </a:p>
          <a:p>
            <a:pPr lvl="1"/>
            <a:r>
              <a:rPr lang="en-US" b="1" dirty="0"/>
              <a:t>Check Metadata:</a:t>
            </a:r>
            <a:r>
              <a:rPr lang="en-US" dirty="0"/>
              <a:t> Look for the </a:t>
            </a:r>
            <a:r>
              <a:rPr lang="en-US" b="1" dirty="0"/>
              <a:t>Originating IP</a:t>
            </a:r>
            <a:r>
              <a:rPr lang="en-US" dirty="0"/>
              <a:t> (the first server that handled the mail).</a:t>
            </a:r>
          </a:p>
          <a:p>
            <a:pPr lvl="1"/>
            <a:r>
              <a:rPr lang="en-US" b="1" dirty="0"/>
              <a:t>Verify Authentication Records:</a:t>
            </a:r>
            <a:r>
              <a:rPr lang="en-US" dirty="0"/>
              <a:t> Check if the email failed </a:t>
            </a:r>
            <a:r>
              <a:rPr lang="en-US" b="1" dirty="0"/>
              <a:t>SPF, DKIM, or DMARC</a:t>
            </a:r>
            <a:r>
              <a:rPr lang="en-US" dirty="0"/>
              <a:t> checks.</a:t>
            </a:r>
          </a:p>
          <a:p>
            <a:r>
              <a:rPr lang="en-US" b="1" dirty="0"/>
              <a:t>Reality Check:</a:t>
            </a:r>
            <a:r>
              <a:rPr lang="en-US" dirty="0"/>
              <a:t> While you can often find the server used to send the mail, tracing it back to a specific person's physical house often requires a legal subpoena to an ISP.</a:t>
            </a:r>
          </a:p>
          <a:p>
            <a:endParaRPr lang="en-IN" dirty="0"/>
          </a:p>
        </p:txBody>
      </p:sp>
    </p:spTree>
    <p:extLst>
      <p:ext uri="{BB962C8B-B14F-4D97-AF65-F5344CB8AC3E}">
        <p14:creationId xmlns:p14="http://schemas.microsoft.com/office/powerpoint/2010/main" val="3417338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1E71F-8DE0-0C5A-2AD9-082E24263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765CC-ACD4-8641-45A2-C412AAFED80C}"/>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3B098A7-A9CC-1A33-7FBC-99515A3D6097}"/>
              </a:ext>
            </a:extLst>
          </p:cNvPr>
          <p:cNvSpPr>
            <a:spLocks noGrp="1"/>
          </p:cNvSpPr>
          <p:nvPr>
            <p:ph idx="1"/>
          </p:nvPr>
        </p:nvSpPr>
        <p:spPr>
          <a:xfrm>
            <a:off x="88185" y="873303"/>
            <a:ext cx="11870933" cy="5732980"/>
          </a:xfrm>
        </p:spPr>
        <p:txBody>
          <a:bodyPr/>
          <a:lstStyle/>
          <a:p>
            <a:r>
              <a:rPr lang="en-US" b="1" dirty="0"/>
              <a:t>Slide 3: Handling Login Credentials</a:t>
            </a:r>
          </a:p>
          <a:p>
            <a:r>
              <a:rPr lang="en-US" b="1" dirty="0"/>
              <a:t>Q: Is it safe to send usernames and passwords via email?</a:t>
            </a:r>
            <a:endParaRPr lang="en-US" dirty="0"/>
          </a:p>
          <a:p>
            <a:r>
              <a:rPr lang="en-US" b="1" dirty="0"/>
              <a:t>Answer: NO.</a:t>
            </a:r>
            <a:endParaRPr lang="en-US" dirty="0"/>
          </a:p>
          <a:p>
            <a:r>
              <a:rPr lang="en-US" b="1" dirty="0"/>
              <a:t>The Risks:</a:t>
            </a:r>
            <a:endParaRPr lang="en-US" dirty="0"/>
          </a:p>
          <a:p>
            <a:pPr lvl="1"/>
            <a:r>
              <a:rPr lang="en-US" b="1" dirty="0"/>
              <a:t>Interception:</a:t>
            </a:r>
            <a:r>
              <a:rPr lang="en-US" dirty="0"/>
              <a:t> If the email is intercepted in transit (Man-in-the-Middle attack), the attacker gains full account access.</a:t>
            </a:r>
          </a:p>
          <a:p>
            <a:pPr lvl="1"/>
            <a:r>
              <a:rPr lang="en-US" b="1" dirty="0"/>
              <a:t>Storage Vulnerability:</a:t>
            </a:r>
            <a:r>
              <a:rPr lang="en-US" dirty="0"/>
              <a:t> Emails are often stored in "Sent" folders and on servers in plain text. If your email is hacked, </a:t>
            </a:r>
            <a:r>
              <a:rPr lang="en-US" i="1" dirty="0"/>
              <a:t>all</a:t>
            </a:r>
            <a:r>
              <a:rPr lang="en-US" dirty="0"/>
              <a:t> those shared passwords are now compromised.</a:t>
            </a:r>
          </a:p>
          <a:p>
            <a:r>
              <a:rPr lang="en-US" b="1" dirty="0"/>
              <a:t>The Better Way:</a:t>
            </a:r>
            <a:r>
              <a:rPr lang="en-US" dirty="0"/>
              <a:t> Use a </a:t>
            </a:r>
            <a:r>
              <a:rPr lang="en-US" b="1" dirty="0"/>
              <a:t>Secure Password Manager</a:t>
            </a:r>
            <a:r>
              <a:rPr lang="en-US" dirty="0"/>
              <a:t> or an encrypted "one-time secret" link that expires after it is viewed once.</a:t>
            </a:r>
          </a:p>
          <a:p>
            <a:endParaRPr lang="en-IN" dirty="0"/>
          </a:p>
        </p:txBody>
      </p:sp>
    </p:spTree>
    <p:extLst>
      <p:ext uri="{BB962C8B-B14F-4D97-AF65-F5344CB8AC3E}">
        <p14:creationId xmlns:p14="http://schemas.microsoft.com/office/powerpoint/2010/main" val="1492848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03C0-DA7F-E3CF-4ADC-077EC8FBC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E0DB3-9072-7F78-2FDE-4F565CC6C3D8}"/>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517F66B-FEAF-AFF0-5AB8-6A12409EE838}"/>
              </a:ext>
            </a:extLst>
          </p:cNvPr>
          <p:cNvSpPr>
            <a:spLocks noGrp="1"/>
          </p:cNvSpPr>
          <p:nvPr>
            <p:ph idx="1"/>
          </p:nvPr>
        </p:nvSpPr>
        <p:spPr>
          <a:xfrm>
            <a:off x="88185" y="873303"/>
            <a:ext cx="11870933" cy="5732980"/>
          </a:xfrm>
        </p:spPr>
        <p:txBody>
          <a:bodyPr/>
          <a:lstStyle/>
          <a:p>
            <a:r>
              <a:rPr lang="en-US" b="1" dirty="0"/>
              <a:t>Knowledge Check: Scenario-Based Question</a:t>
            </a:r>
          </a:p>
          <a:p>
            <a:r>
              <a:rPr lang="en-US" b="1" dirty="0"/>
              <a:t>Scenario:</a:t>
            </a:r>
            <a:r>
              <a:rPr lang="en-US" dirty="0"/>
              <a:t> Your manager is traveling and forgot their login for the finance portal. They ask you to email them their password. What do you do?</a:t>
            </a:r>
          </a:p>
          <a:p>
            <a:r>
              <a:rPr lang="en-US" b="1" dirty="0"/>
              <a:t>A)</a:t>
            </a:r>
            <a:r>
              <a:rPr lang="en-US" dirty="0"/>
              <a:t> Send it immediately; it’s an emergency.</a:t>
            </a:r>
          </a:p>
          <a:p>
            <a:r>
              <a:rPr lang="en-US" b="1" dirty="0"/>
              <a:t>B)</a:t>
            </a:r>
            <a:r>
              <a:rPr lang="en-US" dirty="0"/>
              <a:t> Send the username in one email and the password in a second email.</a:t>
            </a:r>
          </a:p>
          <a:p>
            <a:r>
              <a:rPr lang="en-US" b="1" dirty="0"/>
              <a:t>C)</a:t>
            </a:r>
            <a:r>
              <a:rPr lang="en-US" dirty="0"/>
              <a:t> </a:t>
            </a:r>
            <a:r>
              <a:rPr lang="en-US" b="1" dirty="0"/>
              <a:t>Refuse to send it via email.</a:t>
            </a:r>
            <a:r>
              <a:rPr lang="en-US" dirty="0"/>
              <a:t> Call them to provide the password over the phone or use a secure credential-sharing tool.</a:t>
            </a:r>
          </a:p>
          <a:p>
            <a:r>
              <a:rPr lang="en-US" b="1" dirty="0"/>
              <a:t>D)</a:t>
            </a:r>
            <a:r>
              <a:rPr lang="en-US" dirty="0"/>
              <a:t> Send it but tell them to delete the email immediately.</a:t>
            </a:r>
          </a:p>
          <a:p>
            <a:r>
              <a:rPr lang="en-US" b="1" dirty="0"/>
              <a:t>Correct Answer: C.</a:t>
            </a:r>
            <a:r>
              <a:rPr lang="en-US" dirty="0"/>
              <a:t> Splitting data between two emails (Option B) is a common mistake; if an attacker has access to the inbox, they have access to both emails.</a:t>
            </a:r>
          </a:p>
          <a:p>
            <a:endParaRPr lang="en-IN" dirty="0"/>
          </a:p>
        </p:txBody>
      </p:sp>
    </p:spTree>
    <p:extLst>
      <p:ext uri="{BB962C8B-B14F-4D97-AF65-F5344CB8AC3E}">
        <p14:creationId xmlns:p14="http://schemas.microsoft.com/office/powerpoint/2010/main" val="2293588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5EF5-D1A7-0E4A-BE86-6609FFAC5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54CFE-B068-4AFF-98DC-A4C3642C4CC0}"/>
              </a:ext>
            </a:extLst>
          </p:cNvPr>
          <p:cNvSpPr>
            <a:spLocks noGrp="1"/>
          </p:cNvSpPr>
          <p:nvPr>
            <p:ph type="title"/>
          </p:nvPr>
        </p:nvSpPr>
        <p:spPr>
          <a:xfrm>
            <a:off x="88185" y="139094"/>
            <a:ext cx="11870933" cy="541944"/>
          </a:xfrm>
        </p:spPr>
        <p:txBody>
          <a:bodyPr>
            <a:normAutofit fontScale="90000"/>
          </a:bodyPr>
          <a:lstStyle/>
          <a:p>
            <a:r>
              <a:rPr lang="en-US" dirty="0"/>
              <a:t>Slide Title: The 5 Golden Rules of Email Security</a:t>
            </a:r>
            <a:endParaRPr lang="en-IN" dirty="0"/>
          </a:p>
        </p:txBody>
      </p:sp>
      <p:sp>
        <p:nvSpPr>
          <p:cNvPr id="3" name="Content Placeholder 2">
            <a:extLst>
              <a:ext uri="{FF2B5EF4-FFF2-40B4-BE49-F238E27FC236}">
                <a16:creationId xmlns:a16="http://schemas.microsoft.com/office/drawing/2014/main" id="{0232A438-85EE-EDEA-765A-15F935AD26FB}"/>
              </a:ext>
            </a:extLst>
          </p:cNvPr>
          <p:cNvSpPr>
            <a:spLocks noGrp="1"/>
          </p:cNvSpPr>
          <p:nvPr>
            <p:ph idx="1"/>
          </p:nvPr>
        </p:nvSpPr>
        <p:spPr>
          <a:xfrm>
            <a:off x="88185" y="873303"/>
            <a:ext cx="11870933" cy="5732980"/>
          </a:xfrm>
        </p:spPr>
        <p:txBody>
          <a:bodyPr>
            <a:normAutofit fontScale="70000" lnSpcReduction="20000"/>
          </a:bodyPr>
          <a:lstStyle/>
          <a:p>
            <a:r>
              <a:rPr lang="en-US" b="1" dirty="0"/>
              <a:t>1. Trust, But Verify</a:t>
            </a:r>
          </a:p>
          <a:p>
            <a:r>
              <a:rPr lang="en-US" dirty="0"/>
              <a:t>Always check the </a:t>
            </a:r>
            <a:r>
              <a:rPr lang="en-US" b="1" dirty="0"/>
              <a:t>actual sender address</a:t>
            </a:r>
            <a:r>
              <a:rPr lang="en-US" dirty="0"/>
              <a:t> (hover over the name).</a:t>
            </a:r>
          </a:p>
          <a:p>
            <a:r>
              <a:rPr lang="en-US" dirty="0"/>
              <a:t>If a request feels unusual or urgent, call the person to verify via a different channel.</a:t>
            </a:r>
          </a:p>
          <a:p>
            <a:r>
              <a:rPr lang="en-US" b="1" dirty="0"/>
              <a:t>2. Never Share Secrets via Email</a:t>
            </a:r>
          </a:p>
          <a:p>
            <a:r>
              <a:rPr lang="en-US" dirty="0"/>
              <a:t>Email is like a postcard, not a locked box.</a:t>
            </a:r>
          </a:p>
          <a:p>
            <a:r>
              <a:rPr lang="en-US" dirty="0"/>
              <a:t>Never send </a:t>
            </a:r>
            <a:r>
              <a:rPr lang="en-US" b="1" dirty="0"/>
              <a:t>passwords, SSNs, or credit card numbers</a:t>
            </a:r>
            <a:r>
              <a:rPr lang="en-US" dirty="0"/>
              <a:t> in the body of an email or as unencrypted attachments.</a:t>
            </a:r>
          </a:p>
          <a:p>
            <a:r>
              <a:rPr lang="en-US" b="1" dirty="0"/>
              <a:t>3. Inspect Before You Click</a:t>
            </a:r>
          </a:p>
          <a:p>
            <a:r>
              <a:rPr lang="en-US" dirty="0"/>
              <a:t>Treat every link and attachment as a potential threat.</a:t>
            </a:r>
          </a:p>
          <a:p>
            <a:r>
              <a:rPr lang="en-US" dirty="0"/>
              <a:t>Hover over links to see the </a:t>
            </a:r>
            <a:r>
              <a:rPr lang="en-US" b="1" dirty="0"/>
              <a:t>true destination URL</a:t>
            </a:r>
            <a:r>
              <a:rPr lang="en-US" dirty="0"/>
              <a:t> before clicking.</a:t>
            </a:r>
          </a:p>
          <a:p>
            <a:r>
              <a:rPr lang="en-US" b="1" dirty="0"/>
              <a:t>4. Use Modern Authentication</a:t>
            </a:r>
          </a:p>
          <a:p>
            <a:r>
              <a:rPr lang="en-US" dirty="0"/>
              <a:t>Ensure your organization has </a:t>
            </a:r>
            <a:r>
              <a:rPr lang="en-US" b="1" dirty="0"/>
              <a:t>SPF, DKIM, and DMARC</a:t>
            </a:r>
            <a:r>
              <a:rPr lang="en-US" dirty="0"/>
              <a:t> active.</a:t>
            </a:r>
          </a:p>
          <a:p>
            <a:r>
              <a:rPr lang="en-US" dirty="0"/>
              <a:t>Enable </a:t>
            </a:r>
            <a:r>
              <a:rPr lang="en-US" b="1" dirty="0"/>
              <a:t>Multi-Factor Authentication (MFA)</a:t>
            </a:r>
            <a:r>
              <a:rPr lang="en-US" dirty="0"/>
              <a:t> on all email accounts to stop 99% of unauthorized access attempts.</a:t>
            </a:r>
          </a:p>
          <a:p>
            <a:r>
              <a:rPr lang="en-US" b="1" dirty="0"/>
              <a:t>5. Report, Don't Just Delete</a:t>
            </a:r>
          </a:p>
          <a:p>
            <a:r>
              <a:rPr lang="en-US" dirty="0"/>
              <a:t>Deleting a phishing email protects you, but </a:t>
            </a:r>
            <a:r>
              <a:rPr lang="en-US" b="1" dirty="0"/>
              <a:t>reporting it</a:t>
            </a:r>
            <a:r>
              <a:rPr lang="en-US" dirty="0"/>
              <a:t> protects your entire company.</a:t>
            </a:r>
          </a:p>
          <a:p>
            <a:r>
              <a:rPr lang="en-US" dirty="0"/>
              <a:t>Use your organization's "Report Phishing" tool to alert IT to block the sender for everyone.</a:t>
            </a:r>
          </a:p>
        </p:txBody>
      </p:sp>
    </p:spTree>
    <p:extLst>
      <p:ext uri="{BB962C8B-B14F-4D97-AF65-F5344CB8AC3E}">
        <p14:creationId xmlns:p14="http://schemas.microsoft.com/office/powerpoint/2010/main" val="2878918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9E92-9F8C-CF9B-0D92-CFAD9F6EB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CF87D-CFFF-E5FC-9773-5B375EB2FC8E}"/>
              </a:ext>
            </a:extLst>
          </p:cNvPr>
          <p:cNvSpPr>
            <a:spLocks noGrp="1"/>
          </p:cNvSpPr>
          <p:nvPr>
            <p:ph type="title"/>
          </p:nvPr>
        </p:nvSpPr>
        <p:spPr>
          <a:xfrm>
            <a:off x="88185" y="139094"/>
            <a:ext cx="11870933" cy="541944"/>
          </a:xfrm>
        </p:spPr>
        <p:txBody>
          <a:bodyPr>
            <a:normAutofit fontScale="90000"/>
          </a:bodyPr>
          <a:lstStyle/>
          <a:p>
            <a:endParaRPr lang="en-IN" dirty="0"/>
          </a:p>
        </p:txBody>
      </p:sp>
      <p:graphicFrame>
        <p:nvGraphicFramePr>
          <p:cNvPr id="4" name="Content Placeholder 3">
            <a:extLst>
              <a:ext uri="{FF2B5EF4-FFF2-40B4-BE49-F238E27FC236}">
                <a16:creationId xmlns:a16="http://schemas.microsoft.com/office/drawing/2014/main" id="{7C388DF9-AAE3-62B6-D4C7-170417BA5832}"/>
              </a:ext>
            </a:extLst>
          </p:cNvPr>
          <p:cNvGraphicFramePr>
            <a:graphicFrameLocks noGrp="1"/>
          </p:cNvGraphicFramePr>
          <p:nvPr>
            <p:ph idx="1"/>
            <p:extLst>
              <p:ext uri="{D42A27DB-BD31-4B8C-83A1-F6EECF244321}">
                <p14:modId xmlns:p14="http://schemas.microsoft.com/office/powerpoint/2010/main" val="753925907"/>
              </p:ext>
            </p:extLst>
          </p:nvPr>
        </p:nvGraphicFramePr>
        <p:xfrm>
          <a:off x="416648" y="1138167"/>
          <a:ext cx="10515600" cy="1503680"/>
        </p:xfrm>
        <a:graphic>
          <a:graphicData uri="http://schemas.openxmlformats.org/drawingml/2006/table">
            <a:tbl>
              <a:tblPr/>
              <a:tblGrid>
                <a:gridCol w="5257800">
                  <a:extLst>
                    <a:ext uri="{9D8B030D-6E8A-4147-A177-3AD203B41FA5}">
                      <a16:colId xmlns:a16="http://schemas.microsoft.com/office/drawing/2014/main" val="284848850"/>
                    </a:ext>
                  </a:extLst>
                </a:gridCol>
                <a:gridCol w="5257800">
                  <a:extLst>
                    <a:ext uri="{9D8B030D-6E8A-4147-A177-3AD203B41FA5}">
                      <a16:colId xmlns:a16="http://schemas.microsoft.com/office/drawing/2014/main" val="565436013"/>
                    </a:ext>
                  </a:extLst>
                </a:gridCol>
              </a:tblGrid>
              <a:tr h="0">
                <a:tc>
                  <a:txBody>
                    <a:bodyPr/>
                    <a:lstStyle/>
                    <a:p>
                      <a:pPr rtl="0">
                        <a:buNone/>
                      </a:pPr>
                      <a:r>
                        <a:rPr lang="en-IN" b="1">
                          <a:solidFill>
                            <a:srgbClr val="1F1F1F"/>
                          </a:solidFill>
                          <a:effectLst/>
                          <a:latin typeface="Google Sans Text"/>
                        </a:rPr>
                        <a:t>Prevention (Proactive)</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Response (Reactive)</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9821225"/>
                  </a:ext>
                </a:extLst>
              </a:tr>
              <a:tr h="0">
                <a:tc>
                  <a:txBody>
                    <a:bodyPr/>
                    <a:lstStyle/>
                    <a:p>
                      <a:pPr rtl="0">
                        <a:buNone/>
                      </a:pPr>
                      <a:r>
                        <a:rPr lang="en-IN">
                          <a:solidFill>
                            <a:srgbClr val="1F1F1F"/>
                          </a:solidFill>
                          <a:effectLst/>
                          <a:latin typeface="Google Sans Text"/>
                        </a:rPr>
                        <a:t>Use S/MIME &amp; Port Encryption</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Report to FBI/FTC/APWG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61139310"/>
                  </a:ext>
                </a:extLst>
              </a:tr>
              <a:tr h="0">
                <a:tc>
                  <a:txBody>
                    <a:bodyPr/>
                    <a:lstStyle/>
                    <a:p>
                      <a:pPr rtl="0">
                        <a:buNone/>
                      </a:pPr>
                      <a:r>
                        <a:rPr lang="en-IN">
                          <a:solidFill>
                            <a:srgbClr val="1F1F1F"/>
                          </a:solidFill>
                          <a:effectLst/>
                          <a:latin typeface="Google Sans Text"/>
                        </a:rPr>
                        <a:t>Regular Staff Training</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Notify affected customers (No links!)</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10311727"/>
                  </a:ext>
                </a:extLst>
              </a:tr>
              <a:tr h="0">
                <a:tc>
                  <a:txBody>
                    <a:bodyPr/>
                    <a:lstStyle/>
                    <a:p>
                      <a:pPr rtl="0">
                        <a:buNone/>
                      </a:pPr>
                      <a:r>
                        <a:rPr lang="en-IN">
                          <a:solidFill>
                            <a:srgbClr val="1F1F1F"/>
                          </a:solidFill>
                          <a:effectLst/>
                          <a:latin typeface="Google Sans Text"/>
                        </a:rPr>
                        <a:t>Configure DMARC Records</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Direct victims to IdentityTheft.gov</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3242689"/>
                  </a:ext>
                </a:extLst>
              </a:tr>
            </a:tbl>
          </a:graphicData>
        </a:graphic>
      </p:graphicFrame>
    </p:spTree>
    <p:extLst>
      <p:ext uri="{BB962C8B-B14F-4D97-AF65-F5344CB8AC3E}">
        <p14:creationId xmlns:p14="http://schemas.microsoft.com/office/powerpoint/2010/main" val="4274388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9611A-9639-B69D-3792-43990529F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DC2BC-3A0D-2CA5-D346-5137C0F0EB0F}"/>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D295941D-66F6-7440-A931-E0861882B757}"/>
              </a:ext>
            </a:extLst>
          </p:cNvPr>
          <p:cNvSpPr>
            <a:spLocks noGrp="1"/>
          </p:cNvSpPr>
          <p:nvPr>
            <p:ph idx="1"/>
          </p:nvPr>
        </p:nvSpPr>
        <p:spPr>
          <a:xfrm>
            <a:off x="88185" y="873303"/>
            <a:ext cx="11870933" cy="5732980"/>
          </a:xfrm>
        </p:spPr>
        <p:txBody>
          <a:bodyPr>
            <a:normAutofit fontScale="85000" lnSpcReduction="20000"/>
          </a:bodyPr>
          <a:lstStyle/>
          <a:p>
            <a:r>
              <a:rPr lang="en-US" dirty="0"/>
              <a:t>To make these scenarios effective for a PPT, I have converted them into interactive "Case Studies." This format is excellent for engaging an audience during a presentation.</a:t>
            </a:r>
          </a:p>
          <a:p>
            <a:br>
              <a:rPr lang="en-US" dirty="0"/>
            </a:br>
            <a:endParaRPr lang="en-US" dirty="0"/>
          </a:p>
          <a:p>
            <a:r>
              <a:rPr lang="en-US" b="1" dirty="0"/>
              <a:t>Case Study 1: The Lab Computer Breach</a:t>
            </a:r>
          </a:p>
          <a:p>
            <a:r>
              <a:rPr lang="en-US" b="1" dirty="0"/>
              <a:t>The Situation:</a:t>
            </a:r>
            <a:r>
              <a:rPr lang="en-US" dirty="0"/>
              <a:t> A student uses a campus lab computer to check their Yahoo email. She ensures the window is closed before leaving. The next person to sit down opens the same browser, checks the history, and is able to send emails from her account.</a:t>
            </a:r>
          </a:p>
          <a:p>
            <a:r>
              <a:rPr lang="en-US" b="1" dirty="0"/>
              <a:t>Question: What was the primary security failure?</a:t>
            </a:r>
            <a:endParaRPr lang="en-US" dirty="0"/>
          </a:p>
          <a:p>
            <a:r>
              <a:rPr lang="en-US" b="1" dirty="0"/>
              <a:t>A)</a:t>
            </a:r>
            <a:r>
              <a:rPr lang="en-US" dirty="0"/>
              <a:t> The first student forgot to lock the computer screen.</a:t>
            </a:r>
          </a:p>
          <a:p>
            <a:r>
              <a:rPr lang="en-US" b="1" dirty="0"/>
              <a:t>B)</a:t>
            </a:r>
            <a:r>
              <a:rPr lang="en-US" dirty="0"/>
              <a:t> The student closed the window but failed to </a:t>
            </a:r>
            <a:r>
              <a:rPr lang="en-US" b="1" dirty="0"/>
              <a:t>Log Out</a:t>
            </a:r>
            <a:r>
              <a:rPr lang="en-US" dirty="0"/>
              <a:t> or </a:t>
            </a:r>
            <a:r>
              <a:rPr lang="en-US" b="1" dirty="0"/>
              <a:t>Clear the Browser Cache</a:t>
            </a:r>
            <a:r>
              <a:rPr lang="en-US" dirty="0"/>
              <a:t>.</a:t>
            </a:r>
          </a:p>
          <a:p>
            <a:r>
              <a:rPr lang="en-US" b="1" dirty="0"/>
              <a:t>C)</a:t>
            </a:r>
            <a:r>
              <a:rPr lang="en-US" dirty="0"/>
              <a:t> The second person used a sophisticated hacking tool to bypass the password.</a:t>
            </a:r>
          </a:p>
          <a:p>
            <a:r>
              <a:rPr lang="en-US" b="1" dirty="0"/>
              <a:t>D)</a:t>
            </a:r>
            <a:r>
              <a:rPr lang="en-US" dirty="0"/>
              <a:t> The Yahoo server was experiencing a data breach.</a:t>
            </a:r>
          </a:p>
          <a:p>
            <a:r>
              <a:rPr lang="en-US" b="1" dirty="0"/>
              <a:t>Correct Answer: B</a:t>
            </a:r>
            <a:r>
              <a:rPr lang="en-US" dirty="0"/>
              <a:t> </a:t>
            </a:r>
            <a:r>
              <a:rPr lang="en-US" b="1" dirty="0"/>
              <a:t>Justification:</a:t>
            </a:r>
            <a:r>
              <a:rPr lang="en-US" dirty="0"/>
              <a:t> Closing a tab or window does not end a "session." Browsers store </a:t>
            </a:r>
            <a:r>
              <a:rPr lang="en-US" b="1" dirty="0"/>
              <a:t>session cookies</a:t>
            </a:r>
            <a:r>
              <a:rPr lang="en-US" dirty="0"/>
              <a:t> and </a:t>
            </a:r>
            <a:r>
              <a:rPr lang="en-US" b="1" dirty="0"/>
              <a:t>cached data</a:t>
            </a:r>
            <a:r>
              <a:rPr lang="en-US" dirty="0"/>
              <a:t> to keep users logged in for convenience.</a:t>
            </a:r>
          </a:p>
          <a:p>
            <a:r>
              <a:rPr lang="en-US" b="1" dirty="0"/>
              <a:t>Lesson:</a:t>
            </a:r>
            <a:r>
              <a:rPr lang="en-US" dirty="0"/>
              <a:t> On public computers, always click "Log Out" and clear browsing data (Cache/Cookies) before leaving.</a:t>
            </a:r>
          </a:p>
          <a:p>
            <a:endParaRPr lang="en-IN" dirty="0"/>
          </a:p>
        </p:txBody>
      </p:sp>
    </p:spTree>
    <p:extLst>
      <p:ext uri="{BB962C8B-B14F-4D97-AF65-F5344CB8AC3E}">
        <p14:creationId xmlns:p14="http://schemas.microsoft.com/office/powerpoint/2010/main" val="2027409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8860B-CABF-B095-DB7A-67C8C18B7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1505F-8118-737F-242B-E04FD0B744C7}"/>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F1B00E77-C5EA-C0AD-C61A-D4F570DC65F1}"/>
              </a:ext>
            </a:extLst>
          </p:cNvPr>
          <p:cNvSpPr>
            <a:spLocks noGrp="1"/>
          </p:cNvSpPr>
          <p:nvPr>
            <p:ph idx="1"/>
          </p:nvPr>
        </p:nvSpPr>
        <p:spPr>
          <a:xfrm>
            <a:off x="88185" y="873303"/>
            <a:ext cx="11870933" cy="5732980"/>
          </a:xfrm>
        </p:spPr>
        <p:txBody>
          <a:bodyPr/>
          <a:lstStyle/>
          <a:p>
            <a:r>
              <a:rPr lang="en-US" b="1" dirty="0"/>
              <a:t>Case Study 2: Identifying the Phishing Attempt</a:t>
            </a:r>
          </a:p>
          <a:p>
            <a:r>
              <a:rPr lang="en-US" b="1" dirty="0"/>
              <a:t>The Situation:</a:t>
            </a:r>
            <a:r>
              <a:rPr lang="en-US" dirty="0"/>
              <a:t> You receive an email addressed to "Valued Customer" asking you to verify your account details via a link. The email claims to be from a major campus organization.</a:t>
            </a:r>
          </a:p>
          <a:p>
            <a:r>
              <a:rPr lang="en-US" b="1" dirty="0"/>
              <a:t>Question: Which of these is a "Red Flag" for phishing?</a:t>
            </a:r>
            <a:endParaRPr lang="en-US" dirty="0"/>
          </a:p>
          <a:p>
            <a:r>
              <a:rPr lang="en-US" b="1" dirty="0"/>
              <a:t>A)</a:t>
            </a:r>
            <a:r>
              <a:rPr lang="en-US" dirty="0"/>
              <a:t> A generalized greeting (e.g., "Dear User" instead of your name).</a:t>
            </a:r>
          </a:p>
          <a:p>
            <a:r>
              <a:rPr lang="en-US" b="1" dirty="0"/>
              <a:t>B)</a:t>
            </a:r>
            <a:r>
              <a:rPr lang="en-US" dirty="0"/>
              <a:t> A request for a password or private information.</a:t>
            </a:r>
          </a:p>
          <a:p>
            <a:r>
              <a:rPr lang="en-US" b="1" dirty="0"/>
              <a:t>C)</a:t>
            </a:r>
            <a:r>
              <a:rPr lang="en-US" dirty="0"/>
              <a:t> Claims that they work for official organizations like ITS or UCSC.</a:t>
            </a:r>
          </a:p>
          <a:p>
            <a:r>
              <a:rPr lang="en-US" b="1" dirty="0"/>
              <a:t>D)</a:t>
            </a:r>
            <a:r>
              <a:rPr lang="en-US" dirty="0"/>
              <a:t> </a:t>
            </a:r>
            <a:r>
              <a:rPr lang="en-US" b="1" dirty="0"/>
              <a:t>All of the above.</a:t>
            </a:r>
            <a:endParaRPr lang="en-US" dirty="0"/>
          </a:p>
          <a:p>
            <a:r>
              <a:rPr lang="en-US" b="1" dirty="0"/>
              <a:t>Correct Answer: D</a:t>
            </a:r>
            <a:r>
              <a:rPr lang="en-US" dirty="0"/>
              <a:t> </a:t>
            </a:r>
            <a:r>
              <a:rPr lang="en-US" b="1" dirty="0"/>
              <a:t>Justification:</a:t>
            </a:r>
            <a:r>
              <a:rPr lang="en-US" dirty="0"/>
              <a:t> Legitimate organizations (like your university or bank) will </a:t>
            </a:r>
            <a:r>
              <a:rPr lang="en-US" b="1" dirty="0"/>
              <a:t>never</a:t>
            </a:r>
            <a:r>
              <a:rPr lang="en-US" dirty="0"/>
              <a:t> ask for your password via email. Phishing often uses "mass-spam" tactics like generic greetings to target thousands of people at once.</a:t>
            </a:r>
          </a:p>
          <a:p>
            <a:endParaRPr lang="en-IN" dirty="0"/>
          </a:p>
        </p:txBody>
      </p:sp>
    </p:spTree>
    <p:extLst>
      <p:ext uri="{BB962C8B-B14F-4D97-AF65-F5344CB8AC3E}">
        <p14:creationId xmlns:p14="http://schemas.microsoft.com/office/powerpoint/2010/main" val="1727131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ACC15-E0F6-269C-7D5E-15A282C7D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62CD7-5E4E-57CD-5E87-70070F2D3C75}"/>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40495A5-5ABF-1505-C20F-6A384C5C591B}"/>
              </a:ext>
            </a:extLst>
          </p:cNvPr>
          <p:cNvSpPr>
            <a:spLocks noGrp="1"/>
          </p:cNvSpPr>
          <p:nvPr>
            <p:ph idx="1"/>
          </p:nvPr>
        </p:nvSpPr>
        <p:spPr>
          <a:xfrm>
            <a:off x="88185" y="873303"/>
            <a:ext cx="11870933" cy="5732980"/>
          </a:xfrm>
        </p:spPr>
        <p:txBody>
          <a:bodyPr>
            <a:normAutofit fontScale="55000" lnSpcReduction="20000"/>
          </a:bodyPr>
          <a:lstStyle/>
          <a:p>
            <a:r>
              <a:rPr lang="en-US" b="1" dirty="0"/>
              <a:t>Case Study 3: The "Helpful" Office Mistake</a:t>
            </a:r>
          </a:p>
          <a:p>
            <a:r>
              <a:rPr lang="en-US" b="1" dirty="0"/>
              <a:t>The Situation:</a:t>
            </a:r>
            <a:r>
              <a:rPr lang="en-US" dirty="0"/>
              <a:t> Office-1 needs to send an employee’s bank account and direct deposit details to Office-2 to fix a payroll error. They send the information via a standard internal email. The error is fixed, and the employee is happy.</a:t>
            </a:r>
          </a:p>
          <a:p>
            <a:r>
              <a:rPr lang="en-US" b="1" dirty="0"/>
              <a:t>Question: What is the security risk in this scenario?</a:t>
            </a:r>
            <a:endParaRPr lang="en-US" dirty="0"/>
          </a:p>
          <a:p>
            <a:r>
              <a:rPr lang="en-US" b="1" dirty="0"/>
              <a:t>A)</a:t>
            </a:r>
            <a:r>
              <a:rPr lang="en-US" dirty="0"/>
              <a:t> There is no risk because the email stayed within the campus network.</a:t>
            </a:r>
          </a:p>
          <a:p>
            <a:r>
              <a:rPr lang="en-US" b="1" dirty="0"/>
              <a:t>B)</a:t>
            </a:r>
            <a:r>
              <a:rPr lang="en-US" dirty="0"/>
              <a:t> The information is now permanently stored in "Sent" and "Inbox" folders, accessible to anyone who hacks either account.</a:t>
            </a:r>
          </a:p>
          <a:p>
            <a:r>
              <a:rPr lang="en-US" b="1" dirty="0"/>
              <a:t>C)</a:t>
            </a:r>
            <a:r>
              <a:rPr lang="en-US" dirty="0"/>
              <a:t> Standard email is not "Private" or "Secure" and can be intercepted along its route.</a:t>
            </a:r>
          </a:p>
          <a:p>
            <a:r>
              <a:rPr lang="en-US" b="1" dirty="0"/>
              <a:t>D)</a:t>
            </a:r>
            <a:r>
              <a:rPr lang="en-US" dirty="0"/>
              <a:t> </a:t>
            </a:r>
            <a:r>
              <a:rPr lang="en-US" b="1" dirty="0"/>
              <a:t>Both B and C.</a:t>
            </a:r>
            <a:endParaRPr lang="en-US" dirty="0"/>
          </a:p>
          <a:p>
            <a:r>
              <a:rPr lang="en-US" b="1" dirty="0"/>
              <a:t>Correct Answer: D</a:t>
            </a:r>
            <a:r>
              <a:rPr lang="en-US" dirty="0"/>
              <a:t> </a:t>
            </a:r>
            <a:r>
              <a:rPr lang="en-US" b="1" dirty="0"/>
              <a:t>Justification:</a:t>
            </a:r>
            <a:r>
              <a:rPr lang="en-US" dirty="0"/>
              <a:t> Email travels across multiple servers and is often stored in plain text. Sensitive data like bank account numbers should only be shared via:</a:t>
            </a:r>
          </a:p>
          <a:p>
            <a:r>
              <a:rPr lang="en-US" b="1" dirty="0"/>
              <a:t>Encrypted File Transfers.</a:t>
            </a:r>
            <a:endParaRPr lang="en-US" dirty="0"/>
          </a:p>
          <a:p>
            <a:r>
              <a:rPr lang="en-US" b="1" dirty="0"/>
              <a:t>Secure Internal Portals.</a:t>
            </a:r>
            <a:endParaRPr lang="en-US" dirty="0"/>
          </a:p>
          <a:p>
            <a:r>
              <a:rPr lang="en-US" b="1" dirty="0"/>
              <a:t>Encrypted Phone Calls.</a:t>
            </a:r>
            <a:endParaRPr lang="en-US" dirty="0"/>
          </a:p>
          <a:p>
            <a:br>
              <a:rPr lang="en-US" dirty="0"/>
            </a:br>
            <a:endParaRPr lang="en-US" dirty="0"/>
          </a:p>
          <a:p>
            <a:r>
              <a:rPr lang="en-US" b="1" dirty="0"/>
              <a:t>Trainer's Summary: Key Lessons</a:t>
            </a:r>
          </a:p>
          <a:p>
            <a:r>
              <a:rPr lang="en-US" b="1" dirty="0"/>
              <a:t>Public Computers:</a:t>
            </a:r>
            <a:r>
              <a:rPr lang="en-US" dirty="0"/>
              <a:t> Log out AND clear the cache.</a:t>
            </a:r>
          </a:p>
          <a:p>
            <a:r>
              <a:rPr lang="en-US" b="1" dirty="0"/>
              <a:t>Verification:</a:t>
            </a:r>
            <a:r>
              <a:rPr lang="en-US" dirty="0"/>
              <a:t> Never provide credentials to anyone, regardless of their "official" title.</a:t>
            </a:r>
          </a:p>
          <a:p>
            <a:r>
              <a:rPr lang="en-US" b="1" dirty="0"/>
              <a:t>Data Handling:</a:t>
            </a:r>
            <a:r>
              <a:rPr lang="en-US" dirty="0"/>
              <a:t> If the data is sensitive (Bank info, SSN, PII), </a:t>
            </a:r>
            <a:r>
              <a:rPr lang="en-US" b="1" dirty="0"/>
              <a:t>Email is the wrong tool.</a:t>
            </a:r>
            <a:endParaRPr lang="en-US" dirty="0"/>
          </a:p>
          <a:p>
            <a:endParaRPr lang="en-IN" dirty="0"/>
          </a:p>
        </p:txBody>
      </p:sp>
    </p:spTree>
    <p:extLst>
      <p:ext uri="{BB962C8B-B14F-4D97-AF65-F5344CB8AC3E}">
        <p14:creationId xmlns:p14="http://schemas.microsoft.com/office/powerpoint/2010/main" val="1630403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DDAF-0A45-684E-BADE-2A6C5B68B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4E534-3EAA-A353-C4B1-BF1DEB5937CA}"/>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1FE6C90F-58D7-6C4E-2894-B0A3F7035484}"/>
              </a:ext>
            </a:extLst>
          </p:cNvPr>
          <p:cNvSpPr>
            <a:spLocks noGrp="1"/>
          </p:cNvSpPr>
          <p:nvPr>
            <p:ph idx="1"/>
          </p:nvPr>
        </p:nvSpPr>
        <p:spPr>
          <a:xfrm>
            <a:off x="88185" y="873303"/>
            <a:ext cx="11870933" cy="5732980"/>
          </a:xfrm>
        </p:spPr>
        <p:txBody>
          <a:bodyPr>
            <a:normAutofit fontScale="77500" lnSpcReduction="20000"/>
          </a:bodyPr>
          <a:lstStyle/>
          <a:p>
            <a:br>
              <a:rPr lang="en-US" dirty="0"/>
            </a:br>
            <a:endParaRPr lang="en-US" dirty="0"/>
          </a:p>
          <a:p>
            <a:r>
              <a:rPr lang="en-US" b="1" dirty="0"/>
              <a:t>Scenario 4: The Urgent Bank Alert</a:t>
            </a:r>
          </a:p>
          <a:p>
            <a:r>
              <a:rPr lang="en-US" b="1" dirty="0"/>
              <a:t>The Situation:</a:t>
            </a:r>
            <a:r>
              <a:rPr lang="en-US" dirty="0"/>
              <a:t> You receive an email from your bank claiming there is a problem with your account. It provides a link to "log in and fix the issue" immediately to avoid account suspension.</a:t>
            </a:r>
          </a:p>
          <a:p>
            <a:r>
              <a:rPr lang="en-US" b="1" dirty="0"/>
              <a:t>Question: What is the safest way to handle this?</a:t>
            </a:r>
            <a:endParaRPr lang="en-US" dirty="0"/>
          </a:p>
          <a:p>
            <a:r>
              <a:rPr lang="en-US" b="1" dirty="0"/>
              <a:t>A)</a:t>
            </a:r>
            <a:r>
              <a:rPr lang="en-US" dirty="0"/>
              <a:t> Click the link to see if the bank website looks real.</a:t>
            </a:r>
          </a:p>
          <a:p>
            <a:r>
              <a:rPr lang="en-US" b="1" dirty="0"/>
              <a:t>B)</a:t>
            </a:r>
            <a:r>
              <a:rPr lang="en-US" dirty="0"/>
              <a:t> Reply to the email asking for more details to verify the sender.</a:t>
            </a:r>
          </a:p>
          <a:p>
            <a:r>
              <a:rPr lang="en-US" b="1" dirty="0"/>
              <a:t>C)</a:t>
            </a:r>
            <a:r>
              <a:rPr lang="en-US" dirty="0"/>
              <a:t> </a:t>
            </a:r>
            <a:r>
              <a:rPr lang="en-US" b="1" dirty="0"/>
              <a:t>Delete the email and visit the bank’s official website by typing the URL manually.</a:t>
            </a:r>
            <a:endParaRPr lang="en-US" dirty="0"/>
          </a:p>
          <a:p>
            <a:r>
              <a:rPr lang="en-US" b="1" dirty="0"/>
              <a:t>D)</a:t>
            </a:r>
            <a:r>
              <a:rPr lang="en-US" dirty="0"/>
              <a:t> Call the phone number provided in the email signature.</a:t>
            </a:r>
          </a:p>
          <a:p>
            <a:r>
              <a:rPr lang="en-US" b="1" dirty="0"/>
              <a:t>Correct Answer: C</a:t>
            </a:r>
            <a:endParaRPr lang="en-US" dirty="0"/>
          </a:p>
          <a:p>
            <a:r>
              <a:rPr lang="en-US" b="1" dirty="0"/>
              <a:t>Why Option C is the only safe choice:</a:t>
            </a:r>
          </a:p>
          <a:p>
            <a:r>
              <a:rPr lang="en-US" b="1" dirty="0"/>
              <a:t>Links are Traps:</a:t>
            </a:r>
            <a:r>
              <a:rPr lang="en-US" dirty="0"/>
              <a:t> Links can lead to "Evil Twin" sites or trigger malware downloads.</a:t>
            </a:r>
          </a:p>
          <a:p>
            <a:r>
              <a:rPr lang="en-US" b="1" dirty="0"/>
              <a:t>Numbers can be Fake:</a:t>
            </a:r>
            <a:r>
              <a:rPr lang="en-US" dirty="0"/>
              <a:t> Scammers set up fake call centers to "verify" your identity by stealing your PII.</a:t>
            </a:r>
          </a:p>
          <a:p>
            <a:r>
              <a:rPr lang="en-US" b="1" dirty="0"/>
              <a:t>Proactive Security:</a:t>
            </a:r>
            <a:r>
              <a:rPr lang="en-US" dirty="0"/>
              <a:t> Always use a </a:t>
            </a:r>
            <a:r>
              <a:rPr lang="en-US" b="1" dirty="0"/>
              <a:t>trusted bookmark</a:t>
            </a:r>
            <a:r>
              <a:rPr lang="en-US" dirty="0"/>
              <a:t> or type the address manually to ensure you are on the real server.</a:t>
            </a:r>
          </a:p>
          <a:p>
            <a:endParaRPr lang="en-IN" dirty="0"/>
          </a:p>
        </p:txBody>
      </p:sp>
    </p:spTree>
    <p:extLst>
      <p:ext uri="{BB962C8B-B14F-4D97-AF65-F5344CB8AC3E}">
        <p14:creationId xmlns:p14="http://schemas.microsoft.com/office/powerpoint/2010/main" val="256954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FCAEC-C23A-A640-2E67-E8F73781A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9E80F-342E-4AF7-763D-9E3708F704A1}"/>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F8275803-7FC6-F9BB-1144-996CB2B0AD28}"/>
              </a:ext>
            </a:extLst>
          </p:cNvPr>
          <p:cNvSpPr>
            <a:spLocks noGrp="1"/>
          </p:cNvSpPr>
          <p:nvPr>
            <p:ph idx="1"/>
          </p:nvPr>
        </p:nvSpPr>
        <p:spPr>
          <a:xfrm>
            <a:off x="88185" y="873303"/>
            <a:ext cx="11870933" cy="5732980"/>
          </a:xfrm>
        </p:spPr>
        <p:txBody>
          <a:bodyPr/>
          <a:lstStyle/>
          <a:p>
            <a:r>
              <a:rPr lang="en-US" b="1" dirty="0"/>
              <a:t>Slide Title: Modern Phishing Trends</a:t>
            </a:r>
          </a:p>
          <a:p>
            <a:r>
              <a:rPr lang="en-US" b="1" dirty="0"/>
              <a:t>Q: "If you were to send a phishing email today, what would the topic be?"</a:t>
            </a:r>
            <a:endParaRPr lang="en-US" dirty="0"/>
          </a:p>
          <a:p>
            <a:r>
              <a:rPr lang="en-US" b="1" dirty="0"/>
              <a:t>Context:</a:t>
            </a:r>
            <a:r>
              <a:rPr lang="en-US" dirty="0"/>
              <a:t> Scammers use </a:t>
            </a:r>
            <a:r>
              <a:rPr lang="en-US" b="1" dirty="0"/>
              <a:t>Current Events</a:t>
            </a:r>
            <a:r>
              <a:rPr lang="en-US" dirty="0"/>
              <a:t> to increase success rates.</a:t>
            </a:r>
          </a:p>
          <a:p>
            <a:r>
              <a:rPr lang="en-US" b="1" dirty="0"/>
              <a:t>Likely Topics Today:</a:t>
            </a:r>
            <a:endParaRPr lang="en-US" dirty="0"/>
          </a:p>
          <a:p>
            <a:pPr lvl="1"/>
            <a:r>
              <a:rPr lang="en-US" b="1" dirty="0"/>
              <a:t>AI/Tech Updates:</a:t>
            </a:r>
            <a:r>
              <a:rPr lang="en-US" dirty="0"/>
              <a:t> "Your AI subscription has expired; click here to renew."</a:t>
            </a:r>
          </a:p>
          <a:p>
            <a:pPr lvl="1"/>
            <a:r>
              <a:rPr lang="en-US" b="1" dirty="0"/>
              <a:t>Remote Work Alerts:</a:t>
            </a:r>
            <a:r>
              <a:rPr lang="en-US" dirty="0"/>
              <a:t> "New IT security policy: Update your VPN credentials now."</a:t>
            </a:r>
          </a:p>
          <a:p>
            <a:pPr lvl="1"/>
            <a:r>
              <a:rPr lang="en-US" b="1" dirty="0"/>
              <a:t>Shipping Notifications:</a:t>
            </a:r>
            <a:r>
              <a:rPr lang="en-US" dirty="0"/>
              <a:t> "Your package delivery failed. Pay $1.00 to reschedule."</a:t>
            </a:r>
          </a:p>
          <a:p>
            <a:pPr lvl="1"/>
            <a:r>
              <a:rPr lang="en-US" b="1" dirty="0"/>
              <a:t>Tax/Government Rebates:</a:t>
            </a:r>
            <a:r>
              <a:rPr lang="en-US" dirty="0"/>
              <a:t> "Click to claim your 2026 economic stimulus/tax refund."</a:t>
            </a:r>
          </a:p>
          <a:p>
            <a:endParaRPr lang="en-IN" dirty="0"/>
          </a:p>
        </p:txBody>
      </p:sp>
    </p:spTree>
    <p:extLst>
      <p:ext uri="{BB962C8B-B14F-4D97-AF65-F5344CB8AC3E}">
        <p14:creationId xmlns:p14="http://schemas.microsoft.com/office/powerpoint/2010/main" val="3280820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31D93-C15C-834C-9935-B19DD483D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0600C-8B3B-9CFF-B434-1564A8B7941F}"/>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04BCCA8-E89E-923E-593C-21D342D67711}"/>
              </a:ext>
            </a:extLst>
          </p:cNvPr>
          <p:cNvSpPr>
            <a:spLocks noGrp="1"/>
          </p:cNvSpPr>
          <p:nvPr>
            <p:ph idx="1"/>
          </p:nvPr>
        </p:nvSpPr>
        <p:spPr>
          <a:xfrm>
            <a:off x="88185" y="873303"/>
            <a:ext cx="11870933" cy="5732980"/>
          </a:xfrm>
        </p:spPr>
        <p:txBody>
          <a:bodyPr/>
          <a:lstStyle/>
          <a:p>
            <a:r>
              <a:rPr lang="en-US" b="1" dirty="0"/>
              <a:t>Slide Title: Summary Checklist: Dealing with Suspicious Mail</a:t>
            </a:r>
          </a:p>
          <a:p>
            <a:r>
              <a:rPr lang="en-US" dirty="0"/>
              <a:t>If you receive an unsolicited message asking for sensitive data:</a:t>
            </a:r>
          </a:p>
          <a:p>
            <a:r>
              <a:rPr lang="en-US" b="1" dirty="0"/>
              <a:t>Report it:</a:t>
            </a:r>
            <a:r>
              <a:rPr lang="en-US" dirty="0"/>
              <a:t> Use the "Report Phishing" button in Gmail, Yahoo, or Outlook. This helps the provider block the scammer globally.</a:t>
            </a:r>
          </a:p>
          <a:p>
            <a:r>
              <a:rPr lang="en-US" b="1" dirty="0"/>
              <a:t>Don't Engage:</a:t>
            </a:r>
            <a:r>
              <a:rPr lang="en-US" dirty="0"/>
              <a:t> Do not reply, click links, or download attachments.</a:t>
            </a:r>
          </a:p>
          <a:p>
            <a:r>
              <a:rPr lang="en-US" b="1" dirty="0"/>
              <a:t>Verify Out-of-Band:</a:t>
            </a:r>
            <a:r>
              <a:rPr lang="en-US" dirty="0"/>
              <a:t> Contact the company using a </a:t>
            </a:r>
            <a:r>
              <a:rPr lang="en-US" b="1" dirty="0"/>
              <a:t>known, legitimate method</a:t>
            </a:r>
            <a:r>
              <a:rPr lang="en-US" dirty="0"/>
              <a:t> (e.g., the phone number on the back of your credit card).</a:t>
            </a:r>
          </a:p>
          <a:p>
            <a:r>
              <a:rPr lang="en-US" b="1" dirty="0"/>
              <a:t>Assume Suspicion:</a:t>
            </a:r>
            <a:r>
              <a:rPr lang="en-US" dirty="0"/>
              <a:t> Even if it looks like it's from a familiar brand, if it asks for a </a:t>
            </a:r>
            <a:r>
              <a:rPr lang="en-US" b="1" dirty="0"/>
              <a:t>Password, SSN, or Financial Info</a:t>
            </a:r>
            <a:r>
              <a:rPr lang="en-US" dirty="0"/>
              <a:t>, it is likely a scam.</a:t>
            </a:r>
          </a:p>
          <a:p>
            <a:endParaRPr lang="en-IN" dirty="0"/>
          </a:p>
        </p:txBody>
      </p:sp>
    </p:spTree>
    <p:extLst>
      <p:ext uri="{BB962C8B-B14F-4D97-AF65-F5344CB8AC3E}">
        <p14:creationId xmlns:p14="http://schemas.microsoft.com/office/powerpoint/2010/main" val="2928306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A8183-6C04-8C42-0609-EC3C021E8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BE387-65DC-4FE1-0C3C-F27E0765777C}"/>
              </a:ext>
            </a:extLst>
          </p:cNvPr>
          <p:cNvSpPr>
            <a:spLocks noGrp="1"/>
          </p:cNvSpPr>
          <p:nvPr>
            <p:ph type="title"/>
          </p:nvPr>
        </p:nvSpPr>
        <p:spPr>
          <a:xfrm>
            <a:off x="88185" y="139094"/>
            <a:ext cx="11870933" cy="541944"/>
          </a:xfrm>
        </p:spPr>
        <p:txBody>
          <a:bodyPr>
            <a:normAutofit fontScale="90000"/>
          </a:bodyPr>
          <a:lstStyle/>
          <a:p>
            <a:r>
              <a:rPr lang="en-US" b="1" dirty="0"/>
              <a:t>Securing Messages with OpenPGP for Encryption</a:t>
            </a:r>
            <a:endParaRPr lang="en-IN" dirty="0"/>
          </a:p>
        </p:txBody>
      </p:sp>
      <p:sp>
        <p:nvSpPr>
          <p:cNvPr id="3" name="Content Placeholder 2">
            <a:extLst>
              <a:ext uri="{FF2B5EF4-FFF2-40B4-BE49-F238E27FC236}">
                <a16:creationId xmlns:a16="http://schemas.microsoft.com/office/drawing/2014/main" id="{D0230394-FE2C-2FA6-4B27-C6AF3907D0A6}"/>
              </a:ext>
            </a:extLst>
          </p:cNvPr>
          <p:cNvSpPr>
            <a:spLocks noGrp="1"/>
          </p:cNvSpPr>
          <p:nvPr>
            <p:ph idx="1"/>
          </p:nvPr>
        </p:nvSpPr>
        <p:spPr>
          <a:xfrm>
            <a:off x="88185" y="873303"/>
            <a:ext cx="11870933" cy="5732980"/>
          </a:xfrm>
        </p:spPr>
        <p:txBody>
          <a:bodyPr>
            <a:normAutofit fontScale="47500" lnSpcReduction="20000"/>
          </a:bodyPr>
          <a:lstStyle/>
          <a:p>
            <a:r>
              <a:rPr lang="en-US" b="1" dirty="0"/>
              <a:t>Slide Title</a:t>
            </a:r>
          </a:p>
          <a:p>
            <a:r>
              <a:rPr lang="en-US" b="1" dirty="0"/>
              <a:t>What is OpenPGP?</a:t>
            </a:r>
            <a:r>
              <a:rPr lang="en-US" dirty="0"/>
              <a:t> It is the most widely used standard for email encryption. It ensures </a:t>
            </a:r>
            <a:r>
              <a:rPr lang="en-US" b="1" dirty="0"/>
              <a:t>confidentiality</a:t>
            </a:r>
            <a:r>
              <a:rPr lang="en-US" dirty="0"/>
              <a:t> by scrambling (encrypting) message content so only the intended recipient can read it.</a:t>
            </a:r>
          </a:p>
          <a:p>
            <a:r>
              <a:rPr lang="en-US" b="1" dirty="0"/>
              <a:t>Two Implementation Paths</a:t>
            </a:r>
          </a:p>
          <a:p>
            <a:r>
              <a:rPr lang="en-US" b="1" dirty="0"/>
              <a:t>Open-Source Tools:</a:t>
            </a:r>
            <a:r>
              <a:rPr lang="en-US" dirty="0"/>
              <a:t> * </a:t>
            </a:r>
            <a:r>
              <a:rPr lang="en-US" b="1" dirty="0"/>
              <a:t>Example:</a:t>
            </a:r>
            <a:r>
              <a:rPr lang="en-US" dirty="0"/>
              <a:t> </a:t>
            </a:r>
            <a:r>
              <a:rPr lang="en-US" b="1" dirty="0"/>
              <a:t>Gpg4win</a:t>
            </a:r>
            <a:r>
              <a:rPr lang="en-US" dirty="0"/>
              <a:t> (GNU Privacy Guard for Windows).</a:t>
            </a:r>
          </a:p>
          <a:p>
            <a:pPr lvl="1"/>
            <a:r>
              <a:rPr lang="en-US" b="1" dirty="0"/>
              <a:t>Benefit:</a:t>
            </a:r>
            <a:r>
              <a:rPr lang="en-US" dirty="0"/>
              <a:t> Free to use, community-vetted, and highly secure.</a:t>
            </a:r>
          </a:p>
          <a:p>
            <a:r>
              <a:rPr lang="en-US" b="1" dirty="0"/>
              <a:t>Commercial Tools:</a:t>
            </a:r>
            <a:r>
              <a:rPr lang="en-US" dirty="0"/>
              <a:t> * </a:t>
            </a:r>
            <a:r>
              <a:rPr lang="en-US" b="1" dirty="0"/>
              <a:t>Example:</a:t>
            </a:r>
            <a:r>
              <a:rPr lang="en-US" dirty="0"/>
              <a:t> Symantec Desktop Email Encryption.</a:t>
            </a:r>
          </a:p>
          <a:p>
            <a:pPr lvl="1"/>
            <a:r>
              <a:rPr lang="en-US" b="1" dirty="0"/>
              <a:t>Benefit:</a:t>
            </a:r>
            <a:r>
              <a:rPr lang="en-US" dirty="0"/>
              <a:t> Paid software often includes dedicated technical support and easier integration for large businesses.</a:t>
            </a:r>
          </a:p>
          <a:p>
            <a:r>
              <a:rPr lang="en-US" b="1" dirty="0"/>
              <a:t>Key Takeaway:</a:t>
            </a:r>
            <a:r>
              <a:rPr lang="en-US" dirty="0"/>
              <a:t> Regardless of the tool, both use the same </a:t>
            </a:r>
            <a:r>
              <a:rPr lang="en-US" b="1" dirty="0"/>
              <a:t>OpenPGP standard</a:t>
            </a:r>
            <a:r>
              <a:rPr lang="en-US" dirty="0"/>
              <a:t> to protect your data from eavesdroppers.</a:t>
            </a:r>
          </a:p>
          <a:p>
            <a:br>
              <a:rPr lang="en-US" dirty="0"/>
            </a:br>
            <a:endParaRPr lang="en-US" dirty="0"/>
          </a:p>
          <a:p>
            <a:r>
              <a:rPr lang="en-US" b="1" dirty="0"/>
              <a:t>Knowledge Check: Encryption Scenario</a:t>
            </a:r>
          </a:p>
          <a:p>
            <a:r>
              <a:rPr lang="en-US" b="1" dirty="0"/>
              <a:t>The Situation:</a:t>
            </a:r>
            <a:r>
              <a:rPr lang="en-US" dirty="0"/>
              <a:t> You need to send a highly confidential legal contract to a partner organization. You want to ensure that even if the email is intercepted by a hacker while traveling across the internet, they cannot read the contents.</a:t>
            </a:r>
          </a:p>
          <a:p>
            <a:r>
              <a:rPr lang="en-US" b="1" dirty="0"/>
              <a:t>Question: Which technology should you use to scramble the message content?</a:t>
            </a:r>
            <a:endParaRPr lang="en-US" dirty="0"/>
          </a:p>
          <a:p>
            <a:r>
              <a:rPr lang="en-US" b="1" dirty="0"/>
              <a:t>A)</a:t>
            </a:r>
            <a:r>
              <a:rPr lang="en-US" dirty="0"/>
              <a:t> SMTP (Simple Mail Transfer Protocol)</a:t>
            </a:r>
          </a:p>
          <a:p>
            <a:r>
              <a:rPr lang="en-US" b="1" dirty="0"/>
              <a:t>B)</a:t>
            </a:r>
            <a:r>
              <a:rPr lang="en-US" dirty="0"/>
              <a:t> </a:t>
            </a:r>
            <a:r>
              <a:rPr lang="en-US" b="1" dirty="0"/>
              <a:t>OpenPGP (Pretty Good Privacy)</a:t>
            </a:r>
            <a:endParaRPr lang="en-US" dirty="0"/>
          </a:p>
          <a:p>
            <a:r>
              <a:rPr lang="en-US" b="1" dirty="0"/>
              <a:t>C)</a:t>
            </a:r>
            <a:r>
              <a:rPr lang="en-US" dirty="0"/>
              <a:t> IMAP (Internet Message Access Protocol)</a:t>
            </a:r>
          </a:p>
          <a:p>
            <a:r>
              <a:rPr lang="en-US" b="1" dirty="0"/>
              <a:t>D)</a:t>
            </a:r>
            <a:r>
              <a:rPr lang="en-US" dirty="0"/>
              <a:t> An "Out-of-Office" auto-reply</a:t>
            </a:r>
          </a:p>
          <a:p>
            <a:r>
              <a:rPr lang="en-US" b="1" dirty="0"/>
              <a:t>Correct Answer: B</a:t>
            </a:r>
            <a:endParaRPr lang="en-US" dirty="0"/>
          </a:p>
          <a:p>
            <a:r>
              <a:rPr lang="en-US" b="1" dirty="0"/>
              <a:t>Justification:</a:t>
            </a:r>
          </a:p>
          <a:p>
            <a:r>
              <a:rPr lang="en-US" b="1" dirty="0"/>
              <a:t>SMTP and IMAP</a:t>
            </a:r>
            <a:r>
              <a:rPr lang="en-US" dirty="0"/>
              <a:t> are delivery protocols; they move the mail but do not necessarily hide the content from hackers.</a:t>
            </a:r>
          </a:p>
          <a:p>
            <a:r>
              <a:rPr lang="en-US" b="1" dirty="0"/>
              <a:t>OpenPGP</a:t>
            </a:r>
            <a:r>
              <a:rPr lang="en-US" dirty="0"/>
              <a:t> is specifically designed for </a:t>
            </a:r>
            <a:r>
              <a:rPr lang="en-US" b="1" dirty="0"/>
              <a:t>End-to-End Encryption (E2EE)</a:t>
            </a:r>
            <a:r>
              <a:rPr lang="en-US" dirty="0"/>
              <a:t>, meaning the message is encrypted on your computer and only decrypted on the recipient's computer.</a:t>
            </a:r>
          </a:p>
          <a:p>
            <a:endParaRPr lang="en-IN" dirty="0"/>
          </a:p>
        </p:txBody>
      </p:sp>
    </p:spTree>
    <p:extLst>
      <p:ext uri="{BB962C8B-B14F-4D97-AF65-F5344CB8AC3E}">
        <p14:creationId xmlns:p14="http://schemas.microsoft.com/office/powerpoint/2010/main" val="2015392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9B683-1FBE-53BA-11EF-E3FA0ED49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80024-BA18-6F2E-654B-EBE6F6617A49}"/>
              </a:ext>
            </a:extLst>
          </p:cNvPr>
          <p:cNvSpPr>
            <a:spLocks noGrp="1"/>
          </p:cNvSpPr>
          <p:nvPr>
            <p:ph type="title"/>
          </p:nvPr>
        </p:nvSpPr>
        <p:spPr>
          <a:xfrm>
            <a:off x="88185" y="139094"/>
            <a:ext cx="11870933" cy="541944"/>
          </a:xfrm>
        </p:spPr>
        <p:txBody>
          <a:bodyPr>
            <a:normAutofit fontScale="90000"/>
          </a:bodyPr>
          <a:lstStyle/>
          <a:p>
            <a:r>
              <a:rPr lang="en-IN" dirty="0"/>
              <a:t>Choosing Your Encryption Tool</a:t>
            </a:r>
          </a:p>
        </p:txBody>
      </p:sp>
      <p:graphicFrame>
        <p:nvGraphicFramePr>
          <p:cNvPr id="4" name="Content Placeholder 3">
            <a:extLst>
              <a:ext uri="{FF2B5EF4-FFF2-40B4-BE49-F238E27FC236}">
                <a16:creationId xmlns:a16="http://schemas.microsoft.com/office/drawing/2014/main" id="{18E7C742-02C6-2E7B-725F-C257D90F8025}"/>
              </a:ext>
            </a:extLst>
          </p:cNvPr>
          <p:cNvGraphicFramePr>
            <a:graphicFrameLocks noGrp="1"/>
          </p:cNvGraphicFramePr>
          <p:nvPr>
            <p:ph idx="1"/>
          </p:nvPr>
        </p:nvGraphicFramePr>
        <p:xfrm>
          <a:off x="765969" y="2662396"/>
          <a:ext cx="10515600" cy="2153920"/>
        </p:xfrm>
        <a:graphic>
          <a:graphicData uri="http://schemas.openxmlformats.org/drawingml/2006/table">
            <a:tbl>
              <a:tblPr/>
              <a:tblGrid>
                <a:gridCol w="3505200">
                  <a:extLst>
                    <a:ext uri="{9D8B030D-6E8A-4147-A177-3AD203B41FA5}">
                      <a16:colId xmlns:a16="http://schemas.microsoft.com/office/drawing/2014/main" val="487298277"/>
                    </a:ext>
                  </a:extLst>
                </a:gridCol>
                <a:gridCol w="3505200">
                  <a:extLst>
                    <a:ext uri="{9D8B030D-6E8A-4147-A177-3AD203B41FA5}">
                      <a16:colId xmlns:a16="http://schemas.microsoft.com/office/drawing/2014/main" val="4171274312"/>
                    </a:ext>
                  </a:extLst>
                </a:gridCol>
                <a:gridCol w="3505200">
                  <a:extLst>
                    <a:ext uri="{9D8B030D-6E8A-4147-A177-3AD203B41FA5}">
                      <a16:colId xmlns:a16="http://schemas.microsoft.com/office/drawing/2014/main" val="1100754613"/>
                    </a:ext>
                  </a:extLst>
                </a:gridCol>
              </a:tblGrid>
              <a:tr h="0">
                <a:tc>
                  <a:txBody>
                    <a:bodyPr/>
                    <a:lstStyle/>
                    <a:p>
                      <a:pPr rtl="0">
                        <a:buNone/>
                      </a:pPr>
                      <a:r>
                        <a:rPr lang="en-IN" b="1">
                          <a:solidFill>
                            <a:srgbClr val="1F1F1F"/>
                          </a:solidFill>
                          <a:effectLst/>
                          <a:latin typeface="Google Sans Text"/>
                        </a:rPr>
                        <a:t>Feature</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Open-Source (e.g., Gpg4win)</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Commercial (Paid)</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81665996"/>
                  </a:ext>
                </a:extLst>
              </a:tr>
              <a:tr h="0">
                <a:tc>
                  <a:txBody>
                    <a:bodyPr/>
                    <a:lstStyle/>
                    <a:p>
                      <a:pPr rtl="0">
                        <a:buNone/>
                      </a:pPr>
                      <a:r>
                        <a:rPr lang="en-IN" b="1">
                          <a:solidFill>
                            <a:srgbClr val="1F1F1F"/>
                          </a:solidFill>
                          <a:effectLst/>
                          <a:latin typeface="Google Sans Text"/>
                        </a:rPr>
                        <a:t>Cost</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$0 (Free)</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Subscription/License Fee</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745895"/>
                  </a:ext>
                </a:extLst>
              </a:tr>
              <a:tr h="0">
                <a:tc>
                  <a:txBody>
                    <a:bodyPr/>
                    <a:lstStyle/>
                    <a:p>
                      <a:pPr rtl="0">
                        <a:buNone/>
                      </a:pPr>
                      <a:r>
                        <a:rPr lang="en-IN" b="1">
                          <a:solidFill>
                            <a:srgbClr val="1F1F1F"/>
                          </a:solidFill>
                          <a:effectLst/>
                          <a:latin typeface="Google Sans Text"/>
                        </a:rPr>
                        <a:t>Support</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Community Forums / Documentation</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Dedicated Tech Support</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6803241"/>
                  </a:ext>
                </a:extLst>
              </a:tr>
              <a:tr h="0">
                <a:tc>
                  <a:txBody>
                    <a:bodyPr/>
                    <a:lstStyle/>
                    <a:p>
                      <a:pPr rtl="0">
                        <a:buNone/>
                      </a:pPr>
                      <a:r>
                        <a:rPr lang="en-IN" b="1">
                          <a:solidFill>
                            <a:srgbClr val="1F1F1F"/>
                          </a:solidFill>
                          <a:effectLst/>
                          <a:latin typeface="Google Sans Text"/>
                        </a:rPr>
                        <a:t>Best For</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Individuals &amp; Small Teams</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Large Corporations</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96463644"/>
                  </a:ext>
                </a:extLst>
              </a:tr>
              <a:tr h="0">
                <a:tc>
                  <a:txBody>
                    <a:bodyPr/>
                    <a:lstStyle/>
                    <a:p>
                      <a:pPr rtl="0">
                        <a:buNone/>
                      </a:pPr>
                      <a:r>
                        <a:rPr lang="en-IN" b="1">
                          <a:solidFill>
                            <a:srgbClr val="1F1F1F"/>
                          </a:solidFill>
                          <a:effectLst/>
                          <a:latin typeface="Google Sans Text"/>
                        </a:rPr>
                        <a:t>Security</a:t>
                      </a:r>
                      <a:endParaRPr lang="en-IN">
                        <a:solidFill>
                          <a:srgbClr val="1F1F1F"/>
                        </a:solidFill>
                        <a:effectLst/>
                        <a:latin typeface="Google Sans Text"/>
                      </a:endParaRP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High (OpenPGP Standard)</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High (OpenPGP Standard)</a:t>
                      </a:r>
                    </a:p>
                  </a:txBody>
                  <a:tcPr marL="76200" marR="76200" marT="50800" marB="508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82936950"/>
                  </a:ext>
                </a:extLst>
              </a:tr>
            </a:tbl>
          </a:graphicData>
        </a:graphic>
      </p:graphicFrame>
    </p:spTree>
    <p:extLst>
      <p:ext uri="{BB962C8B-B14F-4D97-AF65-F5344CB8AC3E}">
        <p14:creationId xmlns:p14="http://schemas.microsoft.com/office/powerpoint/2010/main" val="4218693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21427-DABC-E7EC-6472-68C75391E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F19CF-B4C3-934A-B151-724B8DFB8CB5}"/>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16A88413-F15A-5355-F43B-7C27235A30E8}"/>
              </a:ext>
            </a:extLst>
          </p:cNvPr>
          <p:cNvSpPr>
            <a:spLocks noGrp="1"/>
          </p:cNvSpPr>
          <p:nvPr>
            <p:ph idx="1"/>
          </p:nvPr>
        </p:nvSpPr>
        <p:spPr>
          <a:xfrm>
            <a:off x="88185" y="873303"/>
            <a:ext cx="11870933" cy="5732980"/>
          </a:xfrm>
        </p:spPr>
        <p:txBody>
          <a:bodyPr/>
          <a:lstStyle/>
          <a:p>
            <a:r>
              <a:rPr lang="en-IN" b="1" dirty="0"/>
              <a:t>Final Presentation Flow Summary</a:t>
            </a:r>
          </a:p>
          <a:p>
            <a:r>
              <a:rPr lang="en-IN" b="1" dirty="0"/>
              <a:t>Email Protocols:</a:t>
            </a:r>
            <a:r>
              <a:rPr lang="en-IN" dirty="0"/>
              <a:t> SMTP, POP3, IMAP, and Ports.</a:t>
            </a:r>
          </a:p>
          <a:p>
            <a:r>
              <a:rPr lang="en-IN" b="1" dirty="0"/>
              <a:t>Security Standards:</a:t>
            </a:r>
            <a:r>
              <a:rPr lang="en-IN" dirty="0"/>
              <a:t> S/MIME and OpenPGP.</a:t>
            </a:r>
          </a:p>
          <a:p>
            <a:r>
              <a:rPr lang="en-IN" b="1" dirty="0"/>
              <a:t>Authentication:</a:t>
            </a:r>
            <a:r>
              <a:rPr lang="en-IN" dirty="0"/>
              <a:t> SPF, DKIM, and DMARC.</a:t>
            </a:r>
          </a:p>
          <a:p>
            <a:r>
              <a:rPr lang="en-IN" b="1" dirty="0"/>
              <a:t>Threat Awareness:</a:t>
            </a:r>
            <a:r>
              <a:rPr lang="en-IN" dirty="0"/>
              <a:t> Phishing, Vishing, and Social Engineering.</a:t>
            </a:r>
          </a:p>
          <a:p>
            <a:r>
              <a:rPr lang="en-IN" b="1" dirty="0"/>
              <a:t>Incident Response:</a:t>
            </a:r>
            <a:r>
              <a:rPr lang="en-IN" dirty="0"/>
              <a:t> Reporting and notifying after a spoofing attack.</a:t>
            </a:r>
          </a:p>
          <a:p>
            <a:r>
              <a:rPr lang="en-IN" b="1" dirty="0"/>
              <a:t>Golden Rules:</a:t>
            </a:r>
            <a:r>
              <a:rPr lang="en-IN" dirty="0"/>
              <a:t> Best practices for everyday safety.</a:t>
            </a:r>
          </a:p>
          <a:p>
            <a:endParaRPr lang="en-IN" dirty="0"/>
          </a:p>
        </p:txBody>
      </p:sp>
    </p:spTree>
    <p:extLst>
      <p:ext uri="{BB962C8B-B14F-4D97-AF65-F5344CB8AC3E}">
        <p14:creationId xmlns:p14="http://schemas.microsoft.com/office/powerpoint/2010/main" val="3323191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D042F-125F-219D-BD53-E3276D50F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AE9A6-2626-95D2-6B38-44F125C83614}"/>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B20AA36-910B-C38B-B584-B7F270C357BB}"/>
              </a:ext>
            </a:extLst>
          </p:cNvPr>
          <p:cNvSpPr>
            <a:spLocks noGrp="1"/>
          </p:cNvSpPr>
          <p:nvPr>
            <p:ph idx="1"/>
          </p:nvPr>
        </p:nvSpPr>
        <p:spPr>
          <a:xfrm>
            <a:off x="88185" y="873303"/>
            <a:ext cx="11870933" cy="5732980"/>
          </a:xfrm>
        </p:spPr>
        <p:txBody>
          <a:bodyPr/>
          <a:lstStyle/>
          <a:p>
            <a:r>
              <a:rPr lang="en-IN" dirty="0"/>
              <a:t>Email reconnaissance involves gathering information about email addresses and email systems to target individuals or organizations. </a:t>
            </a:r>
          </a:p>
          <a:p>
            <a:r>
              <a:rPr lang="en-IN" dirty="0"/>
              <a:t> </a:t>
            </a:r>
          </a:p>
          <a:p>
            <a:r>
              <a:rPr lang="en-IN" dirty="0"/>
              <a:t>Target: </a:t>
            </a:r>
          </a:p>
          <a:p>
            <a:pPr lvl="0"/>
            <a:r>
              <a:rPr lang="en-IN" dirty="0"/>
              <a:t>Microsoft Outlook</a:t>
            </a:r>
          </a:p>
          <a:p>
            <a:pPr lvl="0"/>
            <a:r>
              <a:rPr lang="en-IN" dirty="0"/>
              <a:t>Google Gmail</a:t>
            </a:r>
          </a:p>
          <a:p>
            <a:pPr lvl="0"/>
            <a:r>
              <a:rPr lang="en-IN" dirty="0"/>
              <a:t>Microsoft Exchange Online</a:t>
            </a:r>
          </a:p>
          <a:p>
            <a:endParaRPr lang="en-IN" dirty="0"/>
          </a:p>
        </p:txBody>
      </p:sp>
    </p:spTree>
    <p:extLst>
      <p:ext uri="{BB962C8B-B14F-4D97-AF65-F5344CB8AC3E}">
        <p14:creationId xmlns:p14="http://schemas.microsoft.com/office/powerpoint/2010/main" val="1021439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B25B-06FE-4AF4-48A1-352376B35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B0CCE-0DCB-1D97-73C5-BC4B9D2A2A41}"/>
              </a:ext>
            </a:extLst>
          </p:cNvPr>
          <p:cNvSpPr>
            <a:spLocks noGrp="1"/>
          </p:cNvSpPr>
          <p:nvPr>
            <p:ph type="title"/>
          </p:nvPr>
        </p:nvSpPr>
        <p:spPr>
          <a:xfrm>
            <a:off x="88185" y="139094"/>
            <a:ext cx="11870933" cy="541944"/>
          </a:xfrm>
        </p:spPr>
        <p:txBody>
          <a:bodyPr>
            <a:normAutofit fontScale="90000"/>
          </a:bodyPr>
          <a:lstStyle/>
          <a:p>
            <a:r>
              <a:rPr lang="en-IN" b="1" dirty="0"/>
              <a:t>Reconnaissance</a:t>
            </a:r>
            <a:endParaRPr lang="en-IN" dirty="0"/>
          </a:p>
        </p:txBody>
      </p:sp>
      <p:sp>
        <p:nvSpPr>
          <p:cNvPr id="3" name="Content Placeholder 2">
            <a:extLst>
              <a:ext uri="{FF2B5EF4-FFF2-40B4-BE49-F238E27FC236}">
                <a16:creationId xmlns:a16="http://schemas.microsoft.com/office/drawing/2014/main" id="{A19BF77A-D057-2B76-88C7-C24C73F66FAB}"/>
              </a:ext>
            </a:extLst>
          </p:cNvPr>
          <p:cNvSpPr>
            <a:spLocks noGrp="1"/>
          </p:cNvSpPr>
          <p:nvPr>
            <p:ph idx="1"/>
          </p:nvPr>
        </p:nvSpPr>
        <p:spPr>
          <a:xfrm>
            <a:off x="88185" y="873303"/>
            <a:ext cx="11870933" cy="5732980"/>
          </a:xfrm>
        </p:spPr>
        <p:txBody>
          <a:bodyPr>
            <a:normAutofit fontScale="77500" lnSpcReduction="20000"/>
          </a:bodyPr>
          <a:lstStyle/>
          <a:p>
            <a:r>
              <a:rPr lang="en-IN" b="1" dirty="0"/>
              <a:t>Objective:</a:t>
            </a:r>
            <a:br>
              <a:rPr lang="en-IN" dirty="0"/>
            </a:br>
            <a:r>
              <a:rPr lang="en-IN" dirty="0"/>
              <a:t>Gather relevant information about the target's email infrastructure and user </a:t>
            </a:r>
            <a:r>
              <a:rPr lang="en-IN" dirty="0" err="1"/>
              <a:t>behavior</a:t>
            </a:r>
            <a:r>
              <a:rPr lang="en-IN" dirty="0"/>
              <a:t> to support further testing or exploitation.</a:t>
            </a:r>
          </a:p>
          <a:p>
            <a:r>
              <a:rPr lang="en-IN" b="1" dirty="0"/>
              <a:t>1.1 Information to Gather</a:t>
            </a:r>
            <a:endParaRPr lang="en-IN" dirty="0"/>
          </a:p>
          <a:p>
            <a:pPr lvl="0"/>
            <a:r>
              <a:rPr lang="en-IN" dirty="0"/>
              <a:t>Email addresses</a:t>
            </a:r>
          </a:p>
          <a:p>
            <a:pPr lvl="0"/>
            <a:r>
              <a:rPr lang="en-IN" dirty="0"/>
              <a:t>Associated domains</a:t>
            </a:r>
          </a:p>
          <a:p>
            <a:pPr lvl="0"/>
            <a:r>
              <a:rPr lang="en-IN" dirty="0"/>
              <a:t>IP addresses</a:t>
            </a:r>
          </a:p>
          <a:p>
            <a:pPr lvl="0"/>
            <a:r>
              <a:rPr lang="en-IN" dirty="0"/>
              <a:t>Geolocation data</a:t>
            </a:r>
          </a:p>
          <a:p>
            <a:pPr lvl="0"/>
            <a:r>
              <a:rPr lang="en-IN" dirty="0"/>
              <a:t>Browser and OS details</a:t>
            </a:r>
          </a:p>
          <a:p>
            <a:pPr lvl="0"/>
            <a:r>
              <a:rPr lang="en-IN" dirty="0"/>
              <a:t>Mail server configurations</a:t>
            </a:r>
          </a:p>
          <a:p>
            <a:pPr lvl="0"/>
            <a:r>
              <a:rPr lang="en-IN" dirty="0"/>
              <a:t>Service providers</a:t>
            </a:r>
          </a:p>
          <a:p>
            <a:r>
              <a:rPr lang="en-IN" b="1" dirty="0"/>
              <a:t>1.2 Sources of Information</a:t>
            </a:r>
            <a:endParaRPr lang="en-IN" dirty="0"/>
          </a:p>
          <a:p>
            <a:pPr lvl="0"/>
            <a:r>
              <a:rPr lang="en-IN" b="1" dirty="0"/>
              <a:t>Search Engines</a:t>
            </a:r>
            <a:r>
              <a:rPr lang="en-IN" dirty="0"/>
              <a:t> – Google, Bing, etc.</a:t>
            </a:r>
          </a:p>
          <a:p>
            <a:pPr lvl="0"/>
            <a:r>
              <a:rPr lang="en-IN" b="1" dirty="0"/>
              <a:t>Social Engineering</a:t>
            </a:r>
            <a:r>
              <a:rPr lang="en-IN" dirty="0"/>
              <a:t> – Pretexting, phishing, impersonation</a:t>
            </a:r>
          </a:p>
          <a:p>
            <a:pPr lvl="0"/>
            <a:r>
              <a:rPr lang="en-IN" b="1" dirty="0"/>
              <a:t>Online Directories &amp; Public Repositories</a:t>
            </a:r>
            <a:r>
              <a:rPr lang="en-IN" dirty="0"/>
              <a:t> – WHOIS, LinkedIn, GitHub</a:t>
            </a:r>
          </a:p>
          <a:p>
            <a:pPr lvl="0"/>
            <a:r>
              <a:rPr lang="en-IN" b="1" dirty="0"/>
              <a:t>Victim-Owned Websites/Domains</a:t>
            </a:r>
            <a:r>
              <a:rPr lang="en-IN" dirty="0"/>
              <a:t> – Contact pages, employee directories, published documents</a:t>
            </a:r>
          </a:p>
          <a:p>
            <a:endParaRPr lang="en-IN" dirty="0"/>
          </a:p>
        </p:txBody>
      </p:sp>
    </p:spTree>
    <p:extLst>
      <p:ext uri="{BB962C8B-B14F-4D97-AF65-F5344CB8AC3E}">
        <p14:creationId xmlns:p14="http://schemas.microsoft.com/office/powerpoint/2010/main" val="4210133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FE01D-AA66-0592-82DC-429D6EBFC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BB90D-6402-9172-CBEA-7881AA93AAF4}"/>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015AE01-54BD-41EC-850B-05E63335B187}"/>
              </a:ext>
            </a:extLst>
          </p:cNvPr>
          <p:cNvSpPr>
            <a:spLocks noGrp="1"/>
          </p:cNvSpPr>
          <p:nvPr>
            <p:ph idx="1"/>
          </p:nvPr>
        </p:nvSpPr>
        <p:spPr>
          <a:xfrm>
            <a:off x="88185" y="873303"/>
            <a:ext cx="11870933" cy="5732980"/>
          </a:xfrm>
        </p:spPr>
        <p:txBody>
          <a:bodyPr/>
          <a:lstStyle/>
          <a:p>
            <a:r>
              <a:rPr lang="en-IN" b="1" dirty="0"/>
              <a:t>2. Email </a:t>
            </a:r>
            <a:r>
              <a:rPr lang="en-IN" b="1" dirty="0" err="1"/>
              <a:t>Footprinting</a:t>
            </a:r>
            <a:endParaRPr lang="en-IN" dirty="0"/>
          </a:p>
          <a:p>
            <a:r>
              <a:rPr lang="en-IN" b="1" dirty="0"/>
              <a:t>Email </a:t>
            </a:r>
            <a:r>
              <a:rPr lang="en-IN" b="1" dirty="0" err="1"/>
              <a:t>footprinting</a:t>
            </a:r>
            <a:r>
              <a:rPr lang="en-IN" dirty="0"/>
              <a:t> involves collecting metadata and </a:t>
            </a:r>
            <a:r>
              <a:rPr lang="en-IN" dirty="0" err="1"/>
              <a:t>behavioral</a:t>
            </a:r>
            <a:r>
              <a:rPr lang="en-IN" dirty="0"/>
              <a:t> data related to the target's email usage and environment.</a:t>
            </a:r>
          </a:p>
          <a:p>
            <a:r>
              <a:rPr lang="en-IN" b="1" dirty="0"/>
              <a:t>2.1 Methods of Email </a:t>
            </a:r>
            <a:r>
              <a:rPr lang="en-IN" b="1" dirty="0" err="1"/>
              <a:t>Footprinting</a:t>
            </a:r>
            <a:endParaRPr lang="en-IN" dirty="0"/>
          </a:p>
          <a:p>
            <a:pPr lvl="0"/>
            <a:r>
              <a:rPr lang="en-IN" b="1" dirty="0"/>
              <a:t>Via Search Engines</a:t>
            </a:r>
            <a:r>
              <a:rPr lang="en-IN" dirty="0"/>
              <a:t> – Search email addresses, exposed headers, metadata</a:t>
            </a:r>
          </a:p>
          <a:p>
            <a:pPr lvl="0"/>
            <a:r>
              <a:rPr lang="en-IN" b="1" dirty="0"/>
              <a:t>Social Engineering</a:t>
            </a:r>
            <a:r>
              <a:rPr lang="en-IN" dirty="0"/>
              <a:t> – Trick users into revealing email interactions</a:t>
            </a:r>
          </a:p>
          <a:p>
            <a:pPr lvl="0"/>
            <a:r>
              <a:rPr lang="en-IN" b="1" dirty="0"/>
              <a:t>Public/Open Domains</a:t>
            </a:r>
            <a:r>
              <a:rPr lang="en-IN" dirty="0"/>
              <a:t> – Explore DNS records, MX records, SPF, DKIM, DMARC</a:t>
            </a:r>
          </a:p>
          <a:p>
            <a:pPr lvl="0"/>
            <a:r>
              <a:rPr lang="en-IN" b="1" dirty="0"/>
              <a:t>Victim Websites</a:t>
            </a:r>
            <a:r>
              <a:rPr lang="en-IN" dirty="0"/>
              <a:t> – Extract contact forms, employee details, downloadable documents with metadata</a:t>
            </a:r>
          </a:p>
          <a:p>
            <a:endParaRPr lang="en-IN" dirty="0"/>
          </a:p>
        </p:txBody>
      </p:sp>
    </p:spTree>
    <p:extLst>
      <p:ext uri="{BB962C8B-B14F-4D97-AF65-F5344CB8AC3E}">
        <p14:creationId xmlns:p14="http://schemas.microsoft.com/office/powerpoint/2010/main" val="435719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157B6-DA35-605E-4054-B51C7C5FB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B91E4-2FB4-B9AF-3AD3-7FB8AD20A9B6}"/>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CDD76B1-2830-8CDB-B32A-B93E206C9F46}"/>
              </a:ext>
            </a:extLst>
          </p:cNvPr>
          <p:cNvSpPr>
            <a:spLocks noGrp="1"/>
          </p:cNvSpPr>
          <p:nvPr>
            <p:ph idx="1"/>
          </p:nvPr>
        </p:nvSpPr>
        <p:spPr>
          <a:xfrm>
            <a:off x="88185" y="873303"/>
            <a:ext cx="11870933" cy="5732980"/>
          </a:xfrm>
        </p:spPr>
        <p:txBody>
          <a:bodyPr>
            <a:normAutofit fontScale="55000" lnSpcReduction="20000"/>
          </a:bodyPr>
          <a:lstStyle/>
          <a:p>
            <a:pPr>
              <a:spcBef>
                <a:spcPts val="400"/>
              </a:spcBef>
            </a:pPr>
            <a:r>
              <a:rPr lang="en-IN" b="1" dirty="0"/>
              <a:t>3. Email Information Gathering</a:t>
            </a:r>
            <a:endParaRPr lang="en-IN" dirty="0"/>
          </a:p>
          <a:p>
            <a:pPr>
              <a:spcBef>
                <a:spcPts val="400"/>
              </a:spcBef>
            </a:pPr>
            <a:r>
              <a:rPr lang="en-IN" b="1" dirty="0"/>
              <a:t>3.1 Email Tracking Techniques</a:t>
            </a:r>
            <a:endParaRPr lang="en-IN" dirty="0"/>
          </a:p>
          <a:p>
            <a:pPr>
              <a:spcBef>
                <a:spcPts val="400"/>
              </a:spcBef>
            </a:pPr>
            <a:r>
              <a:rPr lang="en-IN" dirty="0"/>
              <a:t>Email tracking is used to monitor email interactions and gather technical and </a:t>
            </a:r>
            <a:r>
              <a:rPr lang="en-IN" dirty="0" err="1"/>
              <a:t>behavioral</a:t>
            </a:r>
            <a:r>
              <a:rPr lang="en-IN" dirty="0"/>
              <a:t> data.</a:t>
            </a:r>
          </a:p>
          <a:p>
            <a:pPr>
              <a:spcBef>
                <a:spcPts val="400"/>
              </a:spcBef>
            </a:pPr>
            <a:r>
              <a:rPr lang="en-IN" b="1" dirty="0"/>
              <a:t>Common Tools:</a:t>
            </a:r>
            <a:endParaRPr lang="en-IN" dirty="0"/>
          </a:p>
          <a:p>
            <a:pPr lvl="0">
              <a:spcBef>
                <a:spcPts val="400"/>
              </a:spcBef>
            </a:pPr>
            <a:r>
              <a:rPr lang="en-IN" dirty="0" err="1"/>
              <a:t>EmailTrackerPro</a:t>
            </a:r>
            <a:endParaRPr lang="en-IN" dirty="0"/>
          </a:p>
          <a:p>
            <a:pPr lvl="0">
              <a:spcBef>
                <a:spcPts val="400"/>
              </a:spcBef>
            </a:pPr>
            <a:r>
              <a:rPr lang="en-IN" dirty="0" err="1"/>
              <a:t>Infoga</a:t>
            </a:r>
            <a:endParaRPr lang="en-IN" dirty="0"/>
          </a:p>
          <a:p>
            <a:pPr lvl="0">
              <a:spcBef>
                <a:spcPts val="400"/>
              </a:spcBef>
            </a:pPr>
            <a:r>
              <a:rPr lang="en-IN" dirty="0"/>
              <a:t>Mailtrack</a:t>
            </a:r>
          </a:p>
          <a:p>
            <a:pPr>
              <a:spcBef>
                <a:spcPts val="400"/>
              </a:spcBef>
            </a:pPr>
            <a:r>
              <a:rPr lang="en-IN" b="1" dirty="0"/>
              <a:t>Information Collected:</a:t>
            </a:r>
            <a:endParaRPr lang="en-IN" dirty="0"/>
          </a:p>
          <a:p>
            <a:pPr lvl="0">
              <a:spcBef>
                <a:spcPts val="400"/>
              </a:spcBef>
            </a:pPr>
            <a:r>
              <a:rPr lang="en-IN" b="1" dirty="0"/>
              <a:t>IP Address</a:t>
            </a:r>
            <a:r>
              <a:rPr lang="en-IN" dirty="0"/>
              <a:t> – Identifies recipient’s approximate location</a:t>
            </a:r>
          </a:p>
          <a:p>
            <a:pPr lvl="0">
              <a:spcBef>
                <a:spcPts val="400"/>
              </a:spcBef>
            </a:pPr>
            <a:r>
              <a:rPr lang="en-IN" b="1" dirty="0"/>
              <a:t>Geolocation</a:t>
            </a:r>
            <a:r>
              <a:rPr lang="en-IN" dirty="0"/>
              <a:t> – Maps location and estimates distance</a:t>
            </a:r>
          </a:p>
          <a:p>
            <a:pPr lvl="0">
              <a:spcBef>
                <a:spcPts val="400"/>
              </a:spcBef>
            </a:pPr>
            <a:r>
              <a:rPr lang="en-IN" b="1" dirty="0"/>
              <a:t>Email Status</a:t>
            </a:r>
            <a:r>
              <a:rPr lang="en-IN" dirty="0"/>
              <a:t> – Confirms delivery, read receipts</a:t>
            </a:r>
          </a:p>
          <a:p>
            <a:pPr lvl="0">
              <a:spcBef>
                <a:spcPts val="400"/>
              </a:spcBef>
            </a:pPr>
            <a:r>
              <a:rPr lang="en-IN" b="1" dirty="0"/>
              <a:t>Read Duration</a:t>
            </a:r>
            <a:r>
              <a:rPr lang="en-IN" dirty="0"/>
              <a:t> – Measures how long the recipient views the email</a:t>
            </a:r>
          </a:p>
          <a:p>
            <a:pPr lvl="0">
              <a:spcBef>
                <a:spcPts val="400"/>
              </a:spcBef>
            </a:pPr>
            <a:r>
              <a:rPr lang="en-IN" b="1" dirty="0"/>
              <a:t>Proxy Detection</a:t>
            </a:r>
            <a:r>
              <a:rPr lang="en-IN" dirty="0"/>
              <a:t> – Identifies the presence and type of proxies</a:t>
            </a:r>
          </a:p>
          <a:p>
            <a:pPr lvl="0">
              <a:spcBef>
                <a:spcPts val="400"/>
              </a:spcBef>
            </a:pPr>
            <a:r>
              <a:rPr lang="en-IN" b="1" dirty="0"/>
              <a:t>Link Interaction</a:t>
            </a:r>
            <a:r>
              <a:rPr lang="en-IN" dirty="0"/>
              <a:t> – Determines if embedded links were clicked</a:t>
            </a:r>
          </a:p>
          <a:p>
            <a:pPr>
              <a:spcBef>
                <a:spcPts val="400"/>
              </a:spcBef>
            </a:pPr>
            <a:r>
              <a:rPr lang="en-IN" b="1" dirty="0"/>
              <a:t>3.2 Use Cases in Penetration Testing</a:t>
            </a:r>
            <a:endParaRPr lang="en-IN" dirty="0"/>
          </a:p>
          <a:p>
            <a:pPr lvl="0">
              <a:spcBef>
                <a:spcPts val="400"/>
              </a:spcBef>
            </a:pPr>
            <a:r>
              <a:rPr lang="en-IN" dirty="0"/>
              <a:t>Validate live email addresses</a:t>
            </a:r>
          </a:p>
          <a:p>
            <a:pPr lvl="0">
              <a:spcBef>
                <a:spcPts val="400"/>
              </a:spcBef>
            </a:pPr>
            <a:r>
              <a:rPr lang="en-IN" dirty="0"/>
              <a:t>Confirm engagement with phishing content</a:t>
            </a:r>
          </a:p>
          <a:p>
            <a:pPr lvl="0">
              <a:spcBef>
                <a:spcPts val="400"/>
              </a:spcBef>
            </a:pPr>
            <a:r>
              <a:rPr lang="en-IN" dirty="0"/>
              <a:t>Determine user's device and browser fingerprint</a:t>
            </a:r>
          </a:p>
          <a:p>
            <a:pPr lvl="0">
              <a:spcBef>
                <a:spcPts val="400"/>
              </a:spcBef>
            </a:pPr>
            <a:r>
              <a:rPr lang="en-IN" dirty="0"/>
              <a:t>Identify network infrastructure or proxies in use</a:t>
            </a:r>
          </a:p>
          <a:p>
            <a:pPr>
              <a:spcBef>
                <a:spcPts val="400"/>
              </a:spcBef>
            </a:pPr>
            <a:r>
              <a:rPr lang="en-IN" dirty="0"/>
              <a:t> </a:t>
            </a:r>
          </a:p>
          <a:p>
            <a:pPr>
              <a:spcBef>
                <a:spcPts val="400"/>
              </a:spcBef>
            </a:pPr>
            <a:r>
              <a:rPr lang="en-IN" b="1" dirty="0"/>
              <a:t>4. Phishing for Information</a:t>
            </a:r>
            <a:endParaRPr lang="en-IN" dirty="0"/>
          </a:p>
          <a:p>
            <a:pPr>
              <a:spcBef>
                <a:spcPts val="400"/>
              </a:spcBef>
            </a:pPr>
            <a:r>
              <a:rPr lang="en-IN" dirty="0"/>
              <a:t>Used as both a reconnaissance and exploitation technique, phishing aims to:</a:t>
            </a:r>
          </a:p>
          <a:p>
            <a:pPr lvl="0">
              <a:spcBef>
                <a:spcPts val="400"/>
              </a:spcBef>
            </a:pPr>
            <a:r>
              <a:rPr lang="en-IN" dirty="0"/>
              <a:t>Harvest credentials or sensitive data</a:t>
            </a:r>
          </a:p>
          <a:p>
            <a:pPr lvl="0">
              <a:spcBef>
                <a:spcPts val="400"/>
              </a:spcBef>
            </a:pPr>
            <a:r>
              <a:rPr lang="en-IN" dirty="0"/>
              <a:t>Trigger user interaction for further monitoring</a:t>
            </a:r>
          </a:p>
          <a:p>
            <a:pPr lvl="0">
              <a:spcBef>
                <a:spcPts val="400"/>
              </a:spcBef>
            </a:pPr>
            <a:r>
              <a:rPr lang="en-IN" dirty="0"/>
              <a:t>Deploy payloads or redirect to malicious domains</a:t>
            </a:r>
          </a:p>
          <a:p>
            <a:pPr>
              <a:spcBef>
                <a:spcPts val="400"/>
              </a:spcBef>
            </a:pPr>
            <a:r>
              <a:rPr lang="en-IN" dirty="0"/>
              <a:t> </a:t>
            </a:r>
          </a:p>
        </p:txBody>
      </p:sp>
    </p:spTree>
    <p:extLst>
      <p:ext uri="{BB962C8B-B14F-4D97-AF65-F5344CB8AC3E}">
        <p14:creationId xmlns:p14="http://schemas.microsoft.com/office/powerpoint/2010/main" val="7784826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C6559-E64B-C3A6-0460-EC5EF9D05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D000D-7FB7-3E56-D742-86EEFE77D750}"/>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F94B85C7-820A-BAB7-EFCB-701DB319FD38}"/>
              </a:ext>
            </a:extLst>
          </p:cNvPr>
          <p:cNvSpPr>
            <a:spLocks noGrp="1"/>
          </p:cNvSpPr>
          <p:nvPr>
            <p:ph idx="1"/>
          </p:nvPr>
        </p:nvSpPr>
        <p:spPr>
          <a:xfrm>
            <a:off x="88185" y="873303"/>
            <a:ext cx="11870933" cy="5732980"/>
          </a:xfrm>
        </p:spPr>
        <p:txBody>
          <a:bodyPr/>
          <a:lstStyle/>
          <a:p>
            <a:r>
              <a:rPr lang="en-IN" b="1" dirty="0"/>
              <a:t>Summary</a:t>
            </a:r>
            <a:endParaRPr lang="en-IN" dirty="0"/>
          </a:p>
          <a:p>
            <a:r>
              <a:rPr lang="en-IN" dirty="0"/>
              <a:t>Penetration testing in email ecosystems such as Microsoft Exchange Online and Outlook involves:</a:t>
            </a:r>
          </a:p>
          <a:p>
            <a:pPr lvl="0"/>
            <a:r>
              <a:rPr lang="en-IN" dirty="0"/>
              <a:t>Passive and active reconnaissance</a:t>
            </a:r>
          </a:p>
          <a:p>
            <a:pPr lvl="0"/>
            <a:r>
              <a:rPr lang="en-IN" dirty="0"/>
              <a:t>Email tracking and </a:t>
            </a:r>
            <a:r>
              <a:rPr lang="en-IN" dirty="0" err="1"/>
              <a:t>footprinting</a:t>
            </a:r>
            <a:endParaRPr lang="en-IN" dirty="0"/>
          </a:p>
          <a:p>
            <a:pPr lvl="0"/>
            <a:r>
              <a:rPr lang="en-IN" dirty="0"/>
              <a:t>Use of phishing as a testing vector</a:t>
            </a:r>
          </a:p>
          <a:p>
            <a:pPr lvl="0"/>
            <a:r>
              <a:rPr lang="en-IN" dirty="0"/>
              <a:t>Leveraging tools to gather IPs, geolocation, read receipts, and more</a:t>
            </a:r>
          </a:p>
          <a:p>
            <a:r>
              <a:rPr lang="en-IN" dirty="0"/>
              <a:t>This enables testers to simulate real-world threats and uncover vulnerabilities in the target's email infrastructure and user awareness.</a:t>
            </a:r>
          </a:p>
          <a:p>
            <a:endParaRPr lang="en-IN" dirty="0"/>
          </a:p>
        </p:txBody>
      </p:sp>
    </p:spTree>
    <p:extLst>
      <p:ext uri="{BB962C8B-B14F-4D97-AF65-F5344CB8AC3E}">
        <p14:creationId xmlns:p14="http://schemas.microsoft.com/office/powerpoint/2010/main" val="3379162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AC806-6D71-8387-23DA-5E41B95D05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5B88D-5560-B5F6-5DB5-48DE02992F73}"/>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54962CFB-1897-80FE-3AF7-F08ED4207134}"/>
              </a:ext>
            </a:extLst>
          </p:cNvPr>
          <p:cNvSpPr>
            <a:spLocks noGrp="1"/>
          </p:cNvSpPr>
          <p:nvPr>
            <p:ph idx="1"/>
          </p:nvPr>
        </p:nvSpPr>
        <p:spPr>
          <a:xfrm>
            <a:off x="88185" y="873303"/>
            <a:ext cx="11870933" cy="5732980"/>
          </a:xfrm>
        </p:spPr>
        <p:txBody>
          <a:bodyPr>
            <a:normAutofit fontScale="40000" lnSpcReduction="20000"/>
          </a:bodyPr>
          <a:lstStyle/>
          <a:p>
            <a:r>
              <a:rPr lang="en-IN" b="1" dirty="0"/>
              <a:t>1. Reconnaissance Phase</a:t>
            </a:r>
            <a:endParaRPr lang="en-IN" dirty="0"/>
          </a:p>
          <a:p>
            <a:r>
              <a:rPr lang="en-IN" b="1" dirty="0"/>
              <a:t>Objective:</a:t>
            </a:r>
            <a:r>
              <a:rPr lang="en-IN" dirty="0"/>
              <a:t> Gather email-related intelligence to identify potential attack vectors.</a:t>
            </a:r>
          </a:p>
          <a:p>
            <a:r>
              <a:rPr lang="en-IN" b="1" dirty="0"/>
              <a:t>Key Questions:</a:t>
            </a:r>
            <a:endParaRPr lang="en-IN" dirty="0"/>
          </a:p>
          <a:p>
            <a:pPr lvl="0"/>
            <a:r>
              <a:rPr lang="en-IN" b="1" dirty="0"/>
              <a:t>What to gather?</a:t>
            </a:r>
            <a:r>
              <a:rPr lang="en-IN" dirty="0"/>
              <a:t> Email addresses, IP addresses, email server info, geolocation, user </a:t>
            </a:r>
            <a:r>
              <a:rPr lang="en-IN" dirty="0" err="1"/>
              <a:t>behavior</a:t>
            </a:r>
            <a:r>
              <a:rPr lang="en-IN" dirty="0"/>
              <a:t>.</a:t>
            </a:r>
          </a:p>
          <a:p>
            <a:pPr lvl="0"/>
            <a:r>
              <a:rPr lang="en-IN" b="1" dirty="0"/>
              <a:t>Where to gather?</a:t>
            </a:r>
            <a:r>
              <a:rPr lang="en-IN" dirty="0"/>
              <a:t> Public websites, victim-owned domains, search engines, headers, and social media.</a:t>
            </a:r>
          </a:p>
          <a:p>
            <a:pPr lvl="0"/>
            <a:r>
              <a:rPr lang="en-IN" b="1" dirty="0"/>
              <a:t>How to gather?</a:t>
            </a:r>
            <a:r>
              <a:rPr lang="en-IN" dirty="0"/>
              <a:t> Email tracking tools, search engine </a:t>
            </a:r>
            <a:r>
              <a:rPr lang="en-IN" dirty="0" err="1"/>
              <a:t>dorking</a:t>
            </a:r>
            <a:r>
              <a:rPr lang="en-IN" dirty="0"/>
              <a:t>, social engineering, scanning, enumeration.</a:t>
            </a:r>
          </a:p>
          <a:p>
            <a:r>
              <a:rPr lang="en-IN" dirty="0"/>
              <a:t> </a:t>
            </a:r>
          </a:p>
          <a:p>
            <a:r>
              <a:rPr lang="en-IN" b="1" dirty="0"/>
              <a:t>2. Email Tracking</a:t>
            </a:r>
            <a:endParaRPr lang="en-IN" dirty="0"/>
          </a:p>
          <a:p>
            <a:r>
              <a:rPr lang="en-IN" b="1" dirty="0"/>
              <a:t>Purpose:</a:t>
            </a:r>
            <a:r>
              <a:rPr lang="en-IN" dirty="0"/>
              <a:t> Monitor user interaction with emails (e.g., open status, clicks).</a:t>
            </a:r>
          </a:p>
          <a:p>
            <a:r>
              <a:rPr lang="en-IN" b="1" dirty="0"/>
              <a:t>Collected Data:</a:t>
            </a:r>
            <a:endParaRPr lang="en-IN" dirty="0"/>
          </a:p>
          <a:p>
            <a:pPr lvl="0"/>
            <a:r>
              <a:rPr lang="en-IN" b="1" dirty="0"/>
              <a:t>IP Address:</a:t>
            </a:r>
            <a:r>
              <a:rPr lang="en-IN" dirty="0"/>
              <a:t> Helps determine approximate location.</a:t>
            </a:r>
          </a:p>
          <a:p>
            <a:pPr lvl="0"/>
            <a:r>
              <a:rPr lang="en-IN" b="1" dirty="0"/>
              <a:t>Geolocation:</a:t>
            </a:r>
            <a:r>
              <a:rPr lang="en-IN" dirty="0"/>
              <a:t> Estimate recipient's physical location.</a:t>
            </a:r>
          </a:p>
          <a:p>
            <a:pPr lvl="0"/>
            <a:r>
              <a:rPr lang="en-IN" b="1" dirty="0"/>
              <a:t>Open/Read Notification:</a:t>
            </a:r>
            <a:r>
              <a:rPr lang="en-IN" dirty="0"/>
              <a:t> Indicates when email is accessed.</a:t>
            </a:r>
          </a:p>
          <a:p>
            <a:pPr lvl="0"/>
            <a:r>
              <a:rPr lang="en-IN" b="1" dirty="0"/>
              <a:t>Read Duration:</a:t>
            </a:r>
            <a:r>
              <a:rPr lang="en-IN" dirty="0"/>
              <a:t> Approximate time spent viewing the email.</a:t>
            </a:r>
          </a:p>
          <a:p>
            <a:pPr lvl="0"/>
            <a:r>
              <a:rPr lang="en-IN" b="1" dirty="0"/>
              <a:t>Proxy Detection:</a:t>
            </a:r>
            <a:r>
              <a:rPr lang="en-IN" dirty="0"/>
              <a:t> Reveals if a proxy is used.</a:t>
            </a:r>
          </a:p>
          <a:p>
            <a:pPr lvl="0"/>
            <a:r>
              <a:rPr lang="en-IN" b="1" dirty="0"/>
              <a:t>Link Tracking:</a:t>
            </a:r>
            <a:r>
              <a:rPr lang="en-IN" dirty="0"/>
              <a:t> Tracks link clicks for interaction analysis.</a:t>
            </a:r>
          </a:p>
          <a:p>
            <a:pPr lvl="0"/>
            <a:r>
              <a:rPr lang="en-IN" b="1" dirty="0"/>
              <a:t>User Agent Data:</a:t>
            </a:r>
            <a:r>
              <a:rPr lang="en-IN" dirty="0"/>
              <a:t> Reveals browser and OS info.</a:t>
            </a:r>
          </a:p>
          <a:p>
            <a:r>
              <a:rPr lang="en-IN" b="1" dirty="0"/>
              <a:t>Tools (for authorized security testing only):</a:t>
            </a:r>
            <a:endParaRPr lang="en-IN" dirty="0"/>
          </a:p>
          <a:p>
            <a:pPr lvl="0"/>
            <a:r>
              <a:rPr lang="en-IN" dirty="0"/>
              <a:t>Mailtrack</a:t>
            </a:r>
          </a:p>
          <a:p>
            <a:pPr lvl="0"/>
            <a:r>
              <a:rPr lang="en-IN" dirty="0" err="1"/>
              <a:t>Infoga</a:t>
            </a:r>
            <a:endParaRPr lang="en-IN" dirty="0"/>
          </a:p>
          <a:p>
            <a:pPr lvl="0"/>
            <a:r>
              <a:rPr lang="en-IN" dirty="0" err="1"/>
              <a:t>EmailTrackerPro</a:t>
            </a:r>
            <a:endParaRPr lang="en-IN" dirty="0"/>
          </a:p>
          <a:p>
            <a:r>
              <a:rPr lang="en-IN" b="1" dirty="0"/>
              <a:t>Note:</a:t>
            </a:r>
            <a:r>
              <a:rPr lang="en-IN" dirty="0"/>
              <a:t> Usage without consent is unethical and potentially illegal.</a:t>
            </a:r>
          </a:p>
          <a:p>
            <a:endParaRPr lang="en-IN" dirty="0"/>
          </a:p>
        </p:txBody>
      </p:sp>
    </p:spTree>
    <p:extLst>
      <p:ext uri="{BB962C8B-B14F-4D97-AF65-F5344CB8AC3E}">
        <p14:creationId xmlns:p14="http://schemas.microsoft.com/office/powerpoint/2010/main" val="949579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D7A74-B626-3469-F182-92FFCC0CA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66C43-FD06-80E9-CB13-AE18967118D9}"/>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18A9B5C-5564-DDBB-1E6A-B11B6033DDED}"/>
              </a:ext>
            </a:extLst>
          </p:cNvPr>
          <p:cNvSpPr>
            <a:spLocks noGrp="1"/>
          </p:cNvSpPr>
          <p:nvPr>
            <p:ph idx="1"/>
          </p:nvPr>
        </p:nvSpPr>
        <p:spPr>
          <a:xfrm>
            <a:off x="88185" y="873303"/>
            <a:ext cx="11870933" cy="5732980"/>
          </a:xfrm>
        </p:spPr>
        <p:txBody>
          <a:bodyPr>
            <a:normAutofit fontScale="55000" lnSpcReduction="20000"/>
          </a:bodyPr>
          <a:lstStyle/>
          <a:p>
            <a:r>
              <a:rPr lang="en-IN" dirty="0"/>
              <a:t> </a:t>
            </a:r>
          </a:p>
          <a:p>
            <a:r>
              <a:rPr lang="en-IN" b="1" dirty="0"/>
              <a:t>3. Email </a:t>
            </a:r>
            <a:r>
              <a:rPr lang="en-IN" b="1" dirty="0" err="1"/>
              <a:t>Footprinting</a:t>
            </a:r>
            <a:endParaRPr lang="en-IN" dirty="0"/>
          </a:p>
          <a:p>
            <a:r>
              <a:rPr lang="en-IN" b="1" dirty="0"/>
              <a:t>Goal:</a:t>
            </a:r>
            <a:r>
              <a:rPr lang="en-IN" dirty="0"/>
              <a:t> Discover and map email infrastructure and user accounts.</a:t>
            </a:r>
          </a:p>
          <a:p>
            <a:r>
              <a:rPr lang="en-IN" b="1" dirty="0"/>
              <a:t>Techniques:</a:t>
            </a:r>
            <a:endParaRPr lang="en-IN" dirty="0"/>
          </a:p>
          <a:p>
            <a:pPr lvl="0"/>
            <a:r>
              <a:rPr lang="en-IN" b="1" dirty="0"/>
              <a:t>Search Engines (Dorking):</a:t>
            </a:r>
            <a:r>
              <a:rPr lang="en-IN" dirty="0"/>
              <a:t> Use advanced queries to find email addresses or metadata.</a:t>
            </a:r>
          </a:p>
          <a:p>
            <a:pPr lvl="0"/>
            <a:r>
              <a:rPr lang="en-IN" b="1" dirty="0"/>
              <a:t>Open Source Intelligence (OSINT):</a:t>
            </a:r>
            <a:endParaRPr lang="en-IN" dirty="0"/>
          </a:p>
          <a:p>
            <a:pPr lvl="1"/>
            <a:r>
              <a:rPr lang="en-IN" dirty="0"/>
              <a:t>Scan public websites, forums, and social media.</a:t>
            </a:r>
          </a:p>
          <a:p>
            <a:pPr lvl="1"/>
            <a:r>
              <a:rPr lang="en-IN" dirty="0"/>
              <a:t>Extract emails from victim-owned domains.</a:t>
            </a:r>
          </a:p>
          <a:p>
            <a:pPr lvl="0"/>
            <a:r>
              <a:rPr lang="en-IN" b="1" dirty="0"/>
              <a:t>Social Engineering:</a:t>
            </a:r>
            <a:r>
              <a:rPr lang="en-IN" dirty="0"/>
              <a:t> Tricks like phishing or vishing to obtain email information.</a:t>
            </a:r>
          </a:p>
          <a:p>
            <a:pPr lvl="0"/>
            <a:r>
              <a:rPr lang="en-IN" b="1" dirty="0"/>
              <a:t>Scanning &amp; Enumeration:</a:t>
            </a:r>
            <a:endParaRPr lang="en-IN" dirty="0"/>
          </a:p>
          <a:p>
            <a:pPr lvl="1"/>
            <a:r>
              <a:rPr lang="en-IN" dirty="0"/>
              <a:t>Identify valid email accounts via SMTP VRFY/EXPN (if enabled).</a:t>
            </a:r>
          </a:p>
          <a:p>
            <a:pPr lvl="1"/>
            <a:r>
              <a:rPr lang="en-IN" dirty="0" err="1"/>
              <a:t>Analyze</a:t>
            </a:r>
            <a:r>
              <a:rPr lang="en-IN" dirty="0"/>
              <a:t> email headers for internal network details.</a:t>
            </a:r>
          </a:p>
          <a:p>
            <a:pPr lvl="0"/>
            <a:r>
              <a:rPr lang="en-IN" b="1" dirty="0"/>
              <a:t>Vulnerability Analysis:</a:t>
            </a:r>
            <a:endParaRPr lang="en-IN" dirty="0"/>
          </a:p>
          <a:p>
            <a:pPr lvl="1"/>
            <a:r>
              <a:rPr lang="en-IN" dirty="0"/>
              <a:t>Identify misconfigurations or weaknesses in email systems.</a:t>
            </a:r>
          </a:p>
          <a:p>
            <a:r>
              <a:rPr lang="en-IN" dirty="0"/>
              <a:t> </a:t>
            </a:r>
          </a:p>
          <a:p>
            <a:r>
              <a:rPr lang="en-IN" b="1" dirty="0"/>
              <a:t>Ethical Considerations</a:t>
            </a:r>
            <a:endParaRPr lang="en-IN" dirty="0"/>
          </a:p>
          <a:p>
            <a:pPr lvl="0"/>
            <a:r>
              <a:rPr lang="en-IN" dirty="0"/>
              <a:t>Always perform testing with </a:t>
            </a:r>
            <a:r>
              <a:rPr lang="en-IN" b="1" dirty="0"/>
              <a:t>explicit permission</a:t>
            </a:r>
            <a:r>
              <a:rPr lang="en-IN" dirty="0"/>
              <a:t>.</a:t>
            </a:r>
          </a:p>
          <a:p>
            <a:pPr lvl="0"/>
            <a:r>
              <a:rPr lang="en-IN" b="1" dirty="0"/>
              <a:t>Avoid privacy violations</a:t>
            </a:r>
            <a:r>
              <a:rPr lang="en-IN" dirty="0"/>
              <a:t> or unauthorized access attempts.</a:t>
            </a:r>
          </a:p>
          <a:p>
            <a:pPr lvl="0"/>
            <a:r>
              <a:rPr lang="en-IN" dirty="0"/>
              <a:t>Comply with applicable </a:t>
            </a:r>
            <a:r>
              <a:rPr lang="en-IN" b="1" dirty="0"/>
              <a:t>laws and organizational policies</a:t>
            </a:r>
            <a:r>
              <a:rPr lang="en-IN" dirty="0"/>
              <a:t>.</a:t>
            </a:r>
          </a:p>
          <a:p>
            <a:r>
              <a:rPr lang="en-IN" dirty="0"/>
              <a:t> </a:t>
            </a:r>
          </a:p>
          <a:p>
            <a:endParaRPr lang="en-IN" dirty="0"/>
          </a:p>
        </p:txBody>
      </p:sp>
    </p:spTree>
    <p:extLst>
      <p:ext uri="{BB962C8B-B14F-4D97-AF65-F5344CB8AC3E}">
        <p14:creationId xmlns:p14="http://schemas.microsoft.com/office/powerpoint/2010/main" val="1122291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AD901-31D2-C5C2-A398-FDA4AFA46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E5C28-A082-5486-7CCB-C3C5F76D2E25}"/>
              </a:ext>
            </a:extLst>
          </p:cNvPr>
          <p:cNvSpPr>
            <a:spLocks noGrp="1"/>
          </p:cNvSpPr>
          <p:nvPr>
            <p:ph type="title"/>
          </p:nvPr>
        </p:nvSpPr>
        <p:spPr>
          <a:xfrm>
            <a:off x="88185" y="139094"/>
            <a:ext cx="11870933" cy="54194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BC73BB7-0C7F-8790-33C1-9950BCA457D6}"/>
              </a:ext>
            </a:extLst>
          </p:cNvPr>
          <p:cNvSpPr>
            <a:spLocks noGrp="1"/>
          </p:cNvSpPr>
          <p:nvPr>
            <p:ph idx="1"/>
          </p:nvPr>
        </p:nvSpPr>
        <p:spPr>
          <a:xfrm>
            <a:off x="88185" y="873303"/>
            <a:ext cx="11870933" cy="5732980"/>
          </a:xfrm>
        </p:spPr>
        <p:txBody>
          <a:bodyPr/>
          <a:lstStyle/>
          <a:p>
            <a:endParaRPr lang="en-IN" dirty="0"/>
          </a:p>
        </p:txBody>
      </p:sp>
    </p:spTree>
    <p:extLst>
      <p:ext uri="{BB962C8B-B14F-4D97-AF65-F5344CB8AC3E}">
        <p14:creationId xmlns:p14="http://schemas.microsoft.com/office/powerpoint/2010/main" val="1689644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4508</Words>
  <Application>Microsoft Office PowerPoint</Application>
  <PresentationFormat>Widescreen</PresentationFormat>
  <Paragraphs>446</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Google Sans Text</vt:lpstr>
      <vt:lpstr>Office Theme</vt:lpstr>
      <vt:lpstr>Email Security</vt:lpstr>
      <vt:lpstr>Workflow</vt:lpstr>
      <vt:lpstr>Components</vt:lpstr>
      <vt:lpstr>Protocols</vt:lpstr>
      <vt:lpstr>Protocols</vt:lpstr>
      <vt:lpstr>Protocols</vt:lpstr>
      <vt:lpstr>Threats</vt:lpstr>
      <vt:lpstr>Threats</vt:lpstr>
      <vt:lpstr>Security Controls</vt:lpstr>
      <vt:lpstr>Authentication</vt:lpstr>
      <vt:lpstr>Authentication</vt:lpstr>
      <vt:lpstr>Encryption</vt:lpstr>
      <vt:lpstr>Authentication</vt:lpstr>
      <vt:lpstr>Slide 2: The Three Pillars of Authentication</vt:lpstr>
      <vt:lpstr>Authentication</vt:lpstr>
      <vt:lpstr>Response Plan: What to Do if Spoofed</vt:lpstr>
      <vt:lpstr>PowerPoint Presentation</vt:lpstr>
      <vt:lpstr>PowerPoint Presentation</vt:lpstr>
      <vt:lpstr>PowerPoint Presentation</vt:lpstr>
      <vt:lpstr>PowerPoint Presentation</vt:lpstr>
      <vt:lpstr>PowerPoint Presentation</vt:lpstr>
      <vt:lpstr>Slide Title: The 5 Golden Rules of Email Security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Securing Messages with OpenPGP for Encryption</vt:lpstr>
      <vt:lpstr>Choosing Your Encryption Tool</vt:lpstr>
      <vt:lpstr>PowerPoint Presentation</vt:lpstr>
      <vt:lpstr>PowerPoint Presentation</vt:lpstr>
      <vt:lpstr>Reconnaissance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j0352</dc:creator>
  <cp:lastModifiedBy>sandeep j0352</cp:lastModifiedBy>
  <cp:revision>41</cp:revision>
  <dcterms:created xsi:type="dcterms:W3CDTF">2026-01-12T15:03:33Z</dcterms:created>
  <dcterms:modified xsi:type="dcterms:W3CDTF">2026-01-12T15:30:35Z</dcterms:modified>
</cp:coreProperties>
</file>